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56B1CAD-6F23-4748-869F-DDE1450D215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6316209-E3A9-4F39-8703-2086AA3D2C2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E354969-86DA-4824-A767-F905C99923B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337E614-6DF4-438A-A71C-B4649FD9560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67B3D68-DF17-4EEA-9F68-66A30685745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4256CD6-968C-4B44-A507-F8AD75C40FD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1DA680B-E316-41F7-9AD3-159E3342D20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CAD077E-E3BA-4EEB-B3D5-CE07F353688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F3D461B-E00F-432B-8174-11D311D4D06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18381DE-2A8F-43A4-B350-38DB34879D7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AAA9C79-2726-487F-BA02-73CCF8AF084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2e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ounded Rectangle 2"/>
          <p:cNvSpPr/>
          <p:nvPr/>
        </p:nvSpPr>
        <p:spPr>
          <a:xfrm>
            <a:off x="8595360" y="-1097280"/>
            <a:ext cx="5486040" cy="5486040"/>
          </a:xfrm>
          <a:prstGeom prst="roundRect">
            <a:avLst>
              <a:gd name="adj" fmla="val 8000"/>
            </a:avLst>
          </a:prstGeom>
          <a:solidFill>
            <a:srgbClr val="143b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Rounded Rectangle 3"/>
          <p:cNvSpPr/>
          <p:nvPr/>
        </p:nvSpPr>
        <p:spPr>
          <a:xfrm>
            <a:off x="10424160" y="4206240"/>
            <a:ext cx="3291480" cy="3291480"/>
          </a:xfrm>
          <a:prstGeom prst="roundRect">
            <a:avLst>
              <a:gd name="adj" fmla="val 8000"/>
            </a:avLst>
          </a:prstGeom>
          <a:solidFill>
            <a:srgbClr val="17457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Rectangle 4"/>
          <p:cNvSpPr/>
          <p:nvPr/>
        </p:nvSpPr>
        <p:spPr>
          <a:xfrm>
            <a:off x="182880" y="2651760"/>
            <a:ext cx="145800" cy="1554120"/>
          </a:xfrm>
          <a:prstGeom prst="rect">
            <a:avLst/>
          </a:prstGeom>
          <a:solidFill>
            <a:srgbClr val="f2b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" name="Oval 5"/>
          <p:cNvSpPr/>
          <p:nvPr/>
        </p:nvSpPr>
        <p:spPr>
          <a:xfrm>
            <a:off x="1005840" y="960120"/>
            <a:ext cx="1096920" cy="1096920"/>
          </a:xfrm>
          <a:prstGeom prst="ellipse">
            <a:avLst/>
          </a:prstGeom>
          <a:solidFill>
            <a:srgbClr val="1e6fc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1005840" y="1280160"/>
            <a:ext cx="1096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BW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2377440" y="1097280"/>
            <a:ext cx="73148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Bank Waway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2423160" y="1965960"/>
            <a:ext cx="7314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600" b="1" u="none" strike="noStrike">
                <a:solidFill>
                  <a:srgbClr val="4a9fe5"/>
                </a:solidFill>
                <a:effectLst/>
                <a:uFillTx/>
                <a:latin typeface="Segoe UI"/>
              </a:rPr>
              <a:t>Sistem Website &amp; Admin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Rounded Rectangle 9"/>
          <p:cNvSpPr/>
          <p:nvPr/>
        </p:nvSpPr>
        <p:spPr>
          <a:xfrm>
            <a:off x="1005840" y="3200400"/>
            <a:ext cx="3291480" cy="959760"/>
          </a:xfrm>
          <a:prstGeom prst="roundRect">
            <a:avLst>
              <a:gd name="adj" fmla="val 8000"/>
            </a:avLst>
          </a:prstGeom>
          <a:solidFill>
            <a:srgbClr val="1e6fc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Website Publik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200" b="0" u="none" strike="noStrike">
                <a:solidFill>
                  <a:srgbClr val="e0ecf6"/>
                </a:solidFill>
                <a:effectLst/>
                <a:uFillTx/>
                <a:latin typeface="Segoe UI"/>
              </a:rPr>
              <a:t>Informasi &amp; produk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Rounded Rectangle 10"/>
          <p:cNvSpPr/>
          <p:nvPr/>
        </p:nvSpPr>
        <p:spPr>
          <a:xfrm>
            <a:off x="4526280" y="3200400"/>
            <a:ext cx="3291480" cy="959760"/>
          </a:xfrm>
          <a:prstGeom prst="roundRect">
            <a:avLst>
              <a:gd name="adj" fmla="val 8000"/>
            </a:avLst>
          </a:prstGeom>
          <a:solidFill>
            <a:srgbClr val="1b9e9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Panel Admin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200" b="0" u="none" strike="noStrike">
                <a:solidFill>
                  <a:srgbClr val="e0ecf6"/>
                </a:solidFill>
                <a:effectLst/>
                <a:uFillTx/>
                <a:latin typeface="Segoe UI"/>
              </a:rPr>
              <a:t>Kelola &amp; kelola data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Rounded Rectangle 11"/>
          <p:cNvSpPr/>
          <p:nvPr/>
        </p:nvSpPr>
        <p:spPr>
          <a:xfrm>
            <a:off x="8046720" y="3200400"/>
            <a:ext cx="3291480" cy="959760"/>
          </a:xfrm>
          <a:prstGeom prst="roundRect">
            <a:avLst>
              <a:gd name="adj" fmla="val 8000"/>
            </a:avLst>
          </a:prstGeom>
          <a:solidFill>
            <a:srgbClr val="f2b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Keamanan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200" b="0" u="none" strike="noStrike">
                <a:solidFill>
                  <a:srgbClr val="e0ecf6"/>
                </a:solidFill>
                <a:effectLst/>
                <a:uFillTx/>
                <a:latin typeface="Segoe UI"/>
              </a:rPr>
              <a:t>Audit &amp; kepatuhan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2"/>
          <p:cNvSpPr/>
          <p:nvPr/>
        </p:nvSpPr>
        <p:spPr>
          <a:xfrm>
            <a:off x="1005840" y="4572000"/>
            <a:ext cx="10058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400" b="0" u="none" strike="noStrike">
                <a:solidFill>
                  <a:srgbClr val="b9d0e6"/>
                </a:solidFill>
                <a:effectLst/>
                <a:uFillTx/>
                <a:latin typeface="Segoe UI"/>
              </a:rPr>
              <a:t>Platform perbankan berbasis Laravel 13 untuk masyarakat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13"/>
          <p:cNvSpPr/>
          <p:nvPr/>
        </p:nvSpPr>
        <p:spPr>
          <a:xfrm>
            <a:off x="1005840" y="5029200"/>
            <a:ext cx="100580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200" b="0" u="none" strike="noStrike">
                <a:solidFill>
                  <a:srgbClr val="8fadca"/>
                </a:solidFill>
                <a:effectLst/>
                <a:uFillTx/>
                <a:latin typeface="Segoe UI"/>
              </a:rPr>
              <a:t>Serangkaian slide untuk memberikan gambaran besar (big picture)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14"/>
          <p:cNvSpPr/>
          <p:nvPr/>
        </p:nvSpPr>
        <p:spPr>
          <a:xfrm>
            <a:off x="10241280" y="644652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15000"/>
              </a:lnSpc>
            </a:pPr>
            <a:r>
              <a:rPr lang="en-US" sz="900" b="0" u="none" strike="noStrike">
                <a:solidFill>
                  <a:srgbClr val="9bb4cf"/>
                </a:solidFill>
                <a:effectLst/>
                <a:uFillTx/>
                <a:latin typeface="Segoe UI"/>
              </a:rPr>
              <a:t>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1"/>
          <p:cNvSpPr/>
          <p:nvPr/>
        </p:nvSpPr>
        <p:spPr>
          <a:xfrm>
            <a:off x="0" y="0"/>
            <a:ext cx="182520" cy="6857640"/>
          </a:xfrm>
          <a:prstGeom prst="rect">
            <a:avLst/>
          </a:prstGeom>
          <a:solidFill>
            <a:srgbClr val="0b2e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Rectangle 2"/>
          <p:cNvSpPr/>
          <p:nvPr/>
        </p:nvSpPr>
        <p:spPr>
          <a:xfrm>
            <a:off x="502920" y="320040"/>
            <a:ext cx="82080" cy="548280"/>
          </a:xfrm>
          <a:prstGeom prst="rect">
            <a:avLst/>
          </a:prstGeom>
          <a:solidFill>
            <a:srgbClr val="f2b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3"/>
          <p:cNvSpPr/>
          <p:nvPr/>
        </p:nvSpPr>
        <p:spPr>
          <a:xfrm>
            <a:off x="749880" y="27432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800" b="1" u="none" strike="noStrike">
                <a:solidFill>
                  <a:srgbClr val="0b2e4f"/>
                </a:solidFill>
                <a:effectLst/>
                <a:uFillTx/>
                <a:latin typeface="Segoe UI"/>
              </a:rPr>
              <a:t>Agenda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4"/>
          <p:cNvSpPr/>
          <p:nvPr/>
        </p:nvSpPr>
        <p:spPr>
          <a:xfrm>
            <a:off x="777240" y="914400"/>
            <a:ext cx="10606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300" b="0" u="none" strike="noStrike">
                <a:solidFill>
                  <a:srgbClr val="5a6a7a"/>
                </a:solidFill>
                <a:effectLst/>
                <a:uFillTx/>
                <a:latin typeface="Segoe UI"/>
              </a:rPr>
              <a:t>Gambaran besar presentasi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ectangle 5"/>
          <p:cNvSpPr/>
          <p:nvPr/>
        </p:nvSpPr>
        <p:spPr>
          <a:xfrm>
            <a:off x="502920" y="1417320"/>
            <a:ext cx="11155320" cy="18000"/>
          </a:xfrm>
          <a:prstGeom prst="rect">
            <a:avLst/>
          </a:prstGeom>
          <a:solidFill>
            <a:srgbClr val="dce6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Rounded Rectangle 6"/>
          <p:cNvSpPr/>
          <p:nvPr/>
        </p:nvSpPr>
        <p:spPr>
          <a:xfrm>
            <a:off x="777240" y="1920240"/>
            <a:ext cx="2605680" cy="155412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ce6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Oval 7"/>
          <p:cNvSpPr/>
          <p:nvPr/>
        </p:nvSpPr>
        <p:spPr>
          <a:xfrm>
            <a:off x="1033200" y="2139840"/>
            <a:ext cx="639720" cy="639720"/>
          </a:xfrm>
          <a:prstGeom prst="ellipse">
            <a:avLst/>
          </a:prstGeom>
          <a:solidFill>
            <a:srgbClr val="1e6fc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8"/>
          <p:cNvSpPr/>
          <p:nvPr/>
        </p:nvSpPr>
        <p:spPr>
          <a:xfrm>
            <a:off x="1033200" y="2286000"/>
            <a:ext cx="639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01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9"/>
          <p:cNvSpPr/>
          <p:nvPr/>
        </p:nvSpPr>
        <p:spPr>
          <a:xfrm>
            <a:off x="1033200" y="2880360"/>
            <a:ext cx="2148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400" b="1" u="none" strike="noStrike">
                <a:solidFill>
                  <a:srgbClr val="0b2e4f"/>
                </a:solidFill>
                <a:effectLst/>
                <a:uFillTx/>
                <a:latin typeface="Segoe UI"/>
              </a:rPr>
              <a:t>Sekilas Proyek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ounded Rectangle 10"/>
          <p:cNvSpPr/>
          <p:nvPr/>
        </p:nvSpPr>
        <p:spPr>
          <a:xfrm>
            <a:off x="3602880" y="1920240"/>
            <a:ext cx="2605680" cy="155412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ce6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Oval 11"/>
          <p:cNvSpPr/>
          <p:nvPr/>
        </p:nvSpPr>
        <p:spPr>
          <a:xfrm>
            <a:off x="3858840" y="2139840"/>
            <a:ext cx="639720" cy="639720"/>
          </a:xfrm>
          <a:prstGeom prst="ellipse">
            <a:avLst/>
          </a:prstGeom>
          <a:solidFill>
            <a:srgbClr val="1b9e9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12"/>
          <p:cNvSpPr/>
          <p:nvPr/>
        </p:nvSpPr>
        <p:spPr>
          <a:xfrm>
            <a:off x="3858840" y="2286000"/>
            <a:ext cx="639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02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3"/>
          <p:cNvSpPr/>
          <p:nvPr/>
        </p:nvSpPr>
        <p:spPr>
          <a:xfrm>
            <a:off x="3858840" y="2880360"/>
            <a:ext cx="2148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400" b="1" u="none" strike="noStrike">
                <a:solidFill>
                  <a:srgbClr val="0b2e4f"/>
                </a:solidFill>
                <a:effectLst/>
                <a:uFillTx/>
                <a:latin typeface="Segoe UI"/>
              </a:rPr>
              <a:t>Arsitektur Aplikasi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ounded Rectangle 14"/>
          <p:cNvSpPr/>
          <p:nvPr/>
        </p:nvSpPr>
        <p:spPr>
          <a:xfrm>
            <a:off x="6428160" y="1920240"/>
            <a:ext cx="2605680" cy="155412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ce6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Oval 15"/>
          <p:cNvSpPr/>
          <p:nvPr/>
        </p:nvSpPr>
        <p:spPr>
          <a:xfrm>
            <a:off x="6684120" y="2139840"/>
            <a:ext cx="639720" cy="639720"/>
          </a:xfrm>
          <a:prstGeom prst="ellipse">
            <a:avLst/>
          </a:prstGeom>
          <a:solidFill>
            <a:srgbClr val="4a9f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16"/>
          <p:cNvSpPr/>
          <p:nvPr/>
        </p:nvSpPr>
        <p:spPr>
          <a:xfrm>
            <a:off x="6684120" y="2286000"/>
            <a:ext cx="639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03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17"/>
          <p:cNvSpPr/>
          <p:nvPr/>
        </p:nvSpPr>
        <p:spPr>
          <a:xfrm>
            <a:off x="6684120" y="2880360"/>
            <a:ext cx="2148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400" b="1" u="none" strike="noStrike">
                <a:solidFill>
                  <a:srgbClr val="0b2e4f"/>
                </a:solidFill>
                <a:effectLst/>
                <a:uFillTx/>
                <a:latin typeface="Segoe UI"/>
              </a:rPr>
              <a:t>Website Publik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ounded Rectangle 18"/>
          <p:cNvSpPr/>
          <p:nvPr/>
        </p:nvSpPr>
        <p:spPr>
          <a:xfrm>
            <a:off x="9253800" y="1920240"/>
            <a:ext cx="2605680" cy="155412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ce6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Oval 19"/>
          <p:cNvSpPr/>
          <p:nvPr/>
        </p:nvSpPr>
        <p:spPr>
          <a:xfrm>
            <a:off x="9509760" y="2139840"/>
            <a:ext cx="639720" cy="639720"/>
          </a:xfrm>
          <a:prstGeom prst="ellipse">
            <a:avLst/>
          </a:prstGeom>
          <a:solidFill>
            <a:srgbClr val="f2b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20"/>
          <p:cNvSpPr/>
          <p:nvPr/>
        </p:nvSpPr>
        <p:spPr>
          <a:xfrm>
            <a:off x="9509760" y="2286000"/>
            <a:ext cx="639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04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21"/>
          <p:cNvSpPr/>
          <p:nvPr/>
        </p:nvSpPr>
        <p:spPr>
          <a:xfrm>
            <a:off x="9509760" y="2880360"/>
            <a:ext cx="2148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400" b="1" u="none" strike="noStrike">
                <a:solidFill>
                  <a:srgbClr val="0b2e4f"/>
                </a:solidFill>
                <a:effectLst/>
                <a:uFillTx/>
                <a:latin typeface="Segoe UI"/>
              </a:rPr>
              <a:t>Panel Admin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ounded Rectangle 22"/>
          <p:cNvSpPr/>
          <p:nvPr/>
        </p:nvSpPr>
        <p:spPr>
          <a:xfrm>
            <a:off x="777240" y="3840480"/>
            <a:ext cx="2605680" cy="155412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ce6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Oval 23"/>
          <p:cNvSpPr/>
          <p:nvPr/>
        </p:nvSpPr>
        <p:spPr>
          <a:xfrm>
            <a:off x="1033200" y="4060080"/>
            <a:ext cx="639720" cy="639720"/>
          </a:xfrm>
          <a:prstGeom prst="ellipse">
            <a:avLst/>
          </a:prstGeom>
          <a:solidFill>
            <a:srgbClr val="0b2e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Box 24"/>
          <p:cNvSpPr/>
          <p:nvPr/>
        </p:nvSpPr>
        <p:spPr>
          <a:xfrm>
            <a:off x="1033200" y="4206240"/>
            <a:ext cx="639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05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25"/>
          <p:cNvSpPr/>
          <p:nvPr/>
        </p:nvSpPr>
        <p:spPr>
          <a:xfrm>
            <a:off x="1033200" y="4800600"/>
            <a:ext cx="2148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400" b="1" u="none" strike="noStrike">
                <a:solidFill>
                  <a:srgbClr val="0b2e4f"/>
                </a:solidFill>
                <a:effectLst/>
                <a:uFillTx/>
                <a:latin typeface="Segoe UI"/>
              </a:rPr>
              <a:t>Keamanan &amp; Autentikasi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ounded Rectangle 26"/>
          <p:cNvSpPr/>
          <p:nvPr/>
        </p:nvSpPr>
        <p:spPr>
          <a:xfrm>
            <a:off x="3602880" y="3840480"/>
            <a:ext cx="2605680" cy="155412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ce6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Oval 27"/>
          <p:cNvSpPr/>
          <p:nvPr/>
        </p:nvSpPr>
        <p:spPr>
          <a:xfrm>
            <a:off x="3858840" y="4060080"/>
            <a:ext cx="639720" cy="639720"/>
          </a:xfrm>
          <a:prstGeom prst="ellipse">
            <a:avLst/>
          </a:prstGeom>
          <a:solidFill>
            <a:srgbClr val="1b9e9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28"/>
          <p:cNvSpPr/>
          <p:nvPr/>
        </p:nvSpPr>
        <p:spPr>
          <a:xfrm>
            <a:off x="3858840" y="4206240"/>
            <a:ext cx="639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06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29"/>
          <p:cNvSpPr/>
          <p:nvPr/>
        </p:nvSpPr>
        <p:spPr>
          <a:xfrm>
            <a:off x="3858840" y="4800600"/>
            <a:ext cx="2148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400" b="1" u="none" strike="noStrike">
                <a:solidFill>
                  <a:srgbClr val="0b2e4f"/>
                </a:solidFill>
                <a:effectLst/>
                <a:uFillTx/>
                <a:latin typeface="Segoe UI"/>
              </a:rPr>
              <a:t>Audit Log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Rounded Rectangle 30"/>
          <p:cNvSpPr/>
          <p:nvPr/>
        </p:nvSpPr>
        <p:spPr>
          <a:xfrm>
            <a:off x="6428160" y="3840480"/>
            <a:ext cx="2605680" cy="155412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ce6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Oval 31"/>
          <p:cNvSpPr/>
          <p:nvPr/>
        </p:nvSpPr>
        <p:spPr>
          <a:xfrm>
            <a:off x="6684120" y="4060080"/>
            <a:ext cx="639720" cy="639720"/>
          </a:xfrm>
          <a:prstGeom prst="ellipse">
            <a:avLst/>
          </a:prstGeom>
          <a:solidFill>
            <a:srgbClr val="4a9f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Box 32"/>
          <p:cNvSpPr/>
          <p:nvPr/>
        </p:nvSpPr>
        <p:spPr>
          <a:xfrm>
            <a:off x="6684120" y="4206240"/>
            <a:ext cx="639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07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33"/>
          <p:cNvSpPr/>
          <p:nvPr/>
        </p:nvSpPr>
        <p:spPr>
          <a:xfrm>
            <a:off x="6684120" y="4800600"/>
            <a:ext cx="2148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400" b="1" u="none" strike="noStrike">
                <a:solidFill>
                  <a:srgbClr val="0b2e4f"/>
                </a:solidFill>
                <a:effectLst/>
                <a:uFillTx/>
                <a:latin typeface="Segoe UI"/>
              </a:rPr>
              <a:t>Kepatuhan &amp; Laporan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ounded Rectangle 34"/>
          <p:cNvSpPr/>
          <p:nvPr/>
        </p:nvSpPr>
        <p:spPr>
          <a:xfrm>
            <a:off x="9253800" y="3840480"/>
            <a:ext cx="2605680" cy="155412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ce6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Oval 35"/>
          <p:cNvSpPr/>
          <p:nvPr/>
        </p:nvSpPr>
        <p:spPr>
          <a:xfrm>
            <a:off x="9509760" y="4060080"/>
            <a:ext cx="639720" cy="639720"/>
          </a:xfrm>
          <a:prstGeom prst="ellipse">
            <a:avLst/>
          </a:prstGeom>
          <a:solidFill>
            <a:srgbClr val="f2b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36"/>
          <p:cNvSpPr/>
          <p:nvPr/>
        </p:nvSpPr>
        <p:spPr>
          <a:xfrm>
            <a:off x="9509760" y="4206240"/>
            <a:ext cx="639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08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37"/>
          <p:cNvSpPr/>
          <p:nvPr/>
        </p:nvSpPr>
        <p:spPr>
          <a:xfrm>
            <a:off x="9509760" y="4800600"/>
            <a:ext cx="2148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400" b="1" u="none" strike="noStrike">
                <a:solidFill>
                  <a:srgbClr val="0b2e4f"/>
                </a:solidFill>
                <a:effectLst/>
                <a:uFillTx/>
                <a:latin typeface="Segoe UI"/>
              </a:rPr>
              <a:t>Otomatisasi &amp; Backup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Rectangle 38"/>
          <p:cNvSpPr/>
          <p:nvPr/>
        </p:nvSpPr>
        <p:spPr>
          <a:xfrm>
            <a:off x="502920" y="6473880"/>
            <a:ext cx="11155320" cy="18000"/>
          </a:xfrm>
          <a:prstGeom prst="rect">
            <a:avLst/>
          </a:prstGeom>
          <a:solidFill>
            <a:srgbClr val="dce6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Box 39"/>
          <p:cNvSpPr/>
          <p:nvPr/>
        </p:nvSpPr>
        <p:spPr>
          <a:xfrm>
            <a:off x="502920" y="6537960"/>
            <a:ext cx="7314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u="none" strike="noStrike">
                <a:solidFill>
                  <a:srgbClr val="5a6a7a"/>
                </a:solidFill>
                <a:effectLst/>
                <a:uFillTx/>
                <a:latin typeface="Segoe UI"/>
              </a:rPr>
              <a:t>Bank Waway — Presentasi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40"/>
          <p:cNvSpPr/>
          <p:nvPr/>
        </p:nvSpPr>
        <p:spPr>
          <a:xfrm>
            <a:off x="10789920" y="6537960"/>
            <a:ext cx="868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15000"/>
              </a:lnSpc>
            </a:pPr>
            <a:r>
              <a:rPr lang="en-US" sz="900" b="0" u="none" strike="noStrike">
                <a:solidFill>
                  <a:srgbClr val="5a6a7a"/>
                </a:solidFill>
                <a:effectLst/>
                <a:uFillTx/>
                <a:latin typeface="Segoe UI"/>
              </a:rPr>
              <a:t>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"/>
          <p:cNvSpPr/>
          <p:nvPr/>
        </p:nvSpPr>
        <p:spPr>
          <a:xfrm>
            <a:off x="0" y="0"/>
            <a:ext cx="182520" cy="6857640"/>
          </a:xfrm>
          <a:prstGeom prst="rect">
            <a:avLst/>
          </a:prstGeom>
          <a:solidFill>
            <a:srgbClr val="0b2e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Rectangle 2"/>
          <p:cNvSpPr/>
          <p:nvPr/>
        </p:nvSpPr>
        <p:spPr>
          <a:xfrm>
            <a:off x="502920" y="320040"/>
            <a:ext cx="82080" cy="548280"/>
          </a:xfrm>
          <a:prstGeom prst="rect">
            <a:avLst/>
          </a:prstGeom>
          <a:solidFill>
            <a:srgbClr val="f2b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Box 3"/>
          <p:cNvSpPr/>
          <p:nvPr/>
        </p:nvSpPr>
        <p:spPr>
          <a:xfrm>
            <a:off x="749880" y="27432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800" b="1" u="none" strike="noStrike">
                <a:solidFill>
                  <a:srgbClr val="0b2e4f"/>
                </a:solidFill>
                <a:effectLst/>
                <a:uFillTx/>
                <a:latin typeface="Segoe UI"/>
              </a:rPr>
              <a:t>Sekilas Proyek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4"/>
          <p:cNvSpPr/>
          <p:nvPr/>
        </p:nvSpPr>
        <p:spPr>
          <a:xfrm>
            <a:off x="777240" y="914400"/>
            <a:ext cx="10606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300" b="0" u="none" strike="noStrike">
                <a:solidFill>
                  <a:srgbClr val="5a6a7a"/>
                </a:solidFill>
                <a:effectLst/>
                <a:uFillTx/>
                <a:latin typeface="Segoe UI"/>
              </a:rPr>
              <a:t>Satu aplikasi, tiga lapisan utama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Rectangle 5"/>
          <p:cNvSpPr/>
          <p:nvPr/>
        </p:nvSpPr>
        <p:spPr>
          <a:xfrm>
            <a:off x="502920" y="1417320"/>
            <a:ext cx="11155320" cy="18000"/>
          </a:xfrm>
          <a:prstGeom prst="rect">
            <a:avLst/>
          </a:prstGeom>
          <a:solidFill>
            <a:srgbClr val="dce6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Rounded Rectangle 6"/>
          <p:cNvSpPr/>
          <p:nvPr/>
        </p:nvSpPr>
        <p:spPr>
          <a:xfrm>
            <a:off x="777240" y="1828800"/>
            <a:ext cx="10606680" cy="1234080"/>
          </a:xfrm>
          <a:prstGeom prst="roundRect">
            <a:avLst>
              <a:gd name="adj" fmla="val 8000"/>
            </a:avLst>
          </a:prstGeom>
          <a:solidFill>
            <a:srgbClr val="1e6fc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LAPISAN PUBLIK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100" b="0" u="none" strike="noStrike">
                <a:solidFill>
                  <a:srgbClr val="e0ecf6"/>
                </a:solidFill>
                <a:effectLst/>
                <a:uFillTx/>
                <a:latin typeface="Segoe UI"/>
              </a:rPr>
              <a:t>Situs web yang dilihat &amp; digunakan pelanggan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Rounded Rectangle 7"/>
          <p:cNvSpPr/>
          <p:nvPr/>
        </p:nvSpPr>
        <p:spPr>
          <a:xfrm>
            <a:off x="914400" y="1929960"/>
            <a:ext cx="3977280" cy="292320"/>
          </a:xfrm>
          <a:prstGeom prst="roundRect">
            <a:avLst>
              <a:gd name="adj" fmla="val 50000"/>
            </a:avLst>
          </a:prstGeom>
          <a:solidFill>
            <a:srgbClr val="2e81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Beranda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Rounded Rectangle 8"/>
          <p:cNvSpPr/>
          <p:nvPr/>
        </p:nvSpPr>
        <p:spPr>
          <a:xfrm>
            <a:off x="1783440" y="2222280"/>
            <a:ext cx="3474360" cy="292320"/>
          </a:xfrm>
          <a:prstGeom prst="roundRect">
            <a:avLst>
              <a:gd name="adj" fmla="val 50000"/>
            </a:avLst>
          </a:prstGeom>
          <a:solidFill>
            <a:srgbClr val="2e81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Profil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Rounded Rectangle 9"/>
          <p:cNvSpPr/>
          <p:nvPr/>
        </p:nvSpPr>
        <p:spPr>
          <a:xfrm>
            <a:off x="3200400" y="2514600"/>
            <a:ext cx="3474360" cy="292320"/>
          </a:xfrm>
          <a:prstGeom prst="roundRect">
            <a:avLst>
              <a:gd name="adj" fmla="val 50000"/>
            </a:avLst>
          </a:prstGeom>
          <a:solidFill>
            <a:srgbClr val="2e81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Produk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Rounded Rectangle 10"/>
          <p:cNvSpPr/>
          <p:nvPr/>
        </p:nvSpPr>
        <p:spPr>
          <a:xfrm>
            <a:off x="4919400" y="2770560"/>
            <a:ext cx="3474360" cy="292320"/>
          </a:xfrm>
          <a:prstGeom prst="roundRect">
            <a:avLst>
              <a:gd name="adj" fmla="val 50000"/>
            </a:avLst>
          </a:prstGeom>
          <a:solidFill>
            <a:srgbClr val="2e81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Berita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Rounded Rectangle 11"/>
          <p:cNvSpPr/>
          <p:nvPr/>
        </p:nvSpPr>
        <p:spPr>
          <a:xfrm>
            <a:off x="6995520" y="1828800"/>
            <a:ext cx="3977280" cy="292320"/>
          </a:xfrm>
          <a:prstGeom prst="roundRect">
            <a:avLst>
              <a:gd name="adj" fmla="val 50000"/>
            </a:avLst>
          </a:prstGeom>
          <a:solidFill>
            <a:srgbClr val="2e81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Laporan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Rounded Rectangle 12"/>
          <p:cNvSpPr/>
          <p:nvPr/>
        </p:nvSpPr>
        <p:spPr>
          <a:xfrm>
            <a:off x="6674760" y="2478240"/>
            <a:ext cx="3474360" cy="292320"/>
          </a:xfrm>
          <a:prstGeom prst="roundRect">
            <a:avLst>
              <a:gd name="adj" fmla="val 50000"/>
            </a:avLst>
          </a:prstGeom>
          <a:solidFill>
            <a:srgbClr val="2e81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Kontak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Rounded Rectangle 13"/>
          <p:cNvSpPr/>
          <p:nvPr/>
        </p:nvSpPr>
        <p:spPr>
          <a:xfrm>
            <a:off x="8001000" y="2103480"/>
            <a:ext cx="1965600" cy="292320"/>
          </a:xfrm>
          <a:prstGeom prst="roundRect">
            <a:avLst>
              <a:gd name="adj" fmla="val 50000"/>
            </a:avLst>
          </a:prstGeom>
          <a:solidFill>
            <a:srgbClr val="2e81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WBS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Rounded Rectangle 14"/>
          <p:cNvSpPr/>
          <p:nvPr/>
        </p:nvSpPr>
        <p:spPr>
          <a:xfrm>
            <a:off x="9619560" y="2395800"/>
            <a:ext cx="5486040" cy="292320"/>
          </a:xfrm>
          <a:prstGeom prst="roundRect">
            <a:avLst>
              <a:gd name="adj" fmla="val 50000"/>
            </a:avLst>
          </a:prstGeom>
          <a:solidFill>
            <a:srgbClr val="2e81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Kalkulator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Rounded Rectangle 15"/>
          <p:cNvSpPr/>
          <p:nvPr/>
        </p:nvSpPr>
        <p:spPr>
          <a:xfrm>
            <a:off x="11411640" y="2395800"/>
            <a:ext cx="4983120" cy="292320"/>
          </a:xfrm>
          <a:prstGeom prst="roundRect">
            <a:avLst>
              <a:gd name="adj" fmla="val 50000"/>
            </a:avLst>
          </a:prstGeom>
          <a:solidFill>
            <a:srgbClr val="2e81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Pengajuan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Rounded Rectangle 16"/>
          <p:cNvSpPr/>
          <p:nvPr/>
        </p:nvSpPr>
        <p:spPr>
          <a:xfrm>
            <a:off x="777240" y="3383280"/>
            <a:ext cx="10606680" cy="1234080"/>
          </a:xfrm>
          <a:prstGeom prst="roundRect">
            <a:avLst>
              <a:gd name="adj" fmla="val 8000"/>
            </a:avLst>
          </a:prstGeom>
          <a:solidFill>
            <a:srgbClr val="1b9e9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PANEL ADMIN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100" b="0" u="none" strike="noStrike">
                <a:solidFill>
                  <a:srgbClr val="e0ecf6"/>
                </a:solidFill>
                <a:effectLst/>
                <a:uFillTx/>
                <a:latin typeface="Segoe UI"/>
              </a:rPr>
              <a:t>Back-office untuk staf mengelola konten &amp; data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Rounded Rectangle 17"/>
          <p:cNvSpPr/>
          <p:nvPr/>
        </p:nvSpPr>
        <p:spPr>
          <a:xfrm>
            <a:off x="1051560" y="3950280"/>
            <a:ext cx="4983120" cy="292320"/>
          </a:xfrm>
          <a:prstGeom prst="roundRect">
            <a:avLst>
              <a:gd name="adj" fmla="val 50000"/>
            </a:avLst>
          </a:prstGeom>
          <a:solidFill>
            <a:srgbClr val="278c8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Dashboard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Rounded Rectangle 18"/>
          <p:cNvSpPr/>
          <p:nvPr/>
        </p:nvSpPr>
        <p:spPr>
          <a:xfrm>
            <a:off x="2706480" y="3950280"/>
            <a:ext cx="3474360" cy="292320"/>
          </a:xfrm>
          <a:prstGeom prst="roundRect">
            <a:avLst>
              <a:gd name="adj" fmla="val 50000"/>
            </a:avLst>
          </a:prstGeom>
          <a:solidFill>
            <a:srgbClr val="278c8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Berita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Rounded Rectangle 19"/>
          <p:cNvSpPr/>
          <p:nvPr/>
        </p:nvSpPr>
        <p:spPr>
          <a:xfrm>
            <a:off x="3950280" y="3950280"/>
            <a:ext cx="3977280" cy="292320"/>
          </a:xfrm>
          <a:prstGeom prst="roundRect">
            <a:avLst>
              <a:gd name="adj" fmla="val 50000"/>
            </a:avLst>
          </a:prstGeom>
          <a:solidFill>
            <a:srgbClr val="278c8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Laporan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Rounded Rectangle 20"/>
          <p:cNvSpPr/>
          <p:nvPr/>
        </p:nvSpPr>
        <p:spPr>
          <a:xfrm>
            <a:off x="5532480" y="4343400"/>
            <a:ext cx="4983120" cy="292320"/>
          </a:xfrm>
          <a:prstGeom prst="roundRect">
            <a:avLst>
              <a:gd name="adj" fmla="val 50000"/>
            </a:avLst>
          </a:prstGeom>
          <a:solidFill>
            <a:srgbClr val="278c8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Kepatuhan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Rounded Rectangle 21"/>
          <p:cNvSpPr/>
          <p:nvPr/>
        </p:nvSpPr>
        <p:spPr>
          <a:xfrm>
            <a:off x="6986160" y="3950280"/>
            <a:ext cx="4983120" cy="292320"/>
          </a:xfrm>
          <a:prstGeom prst="roundRect">
            <a:avLst>
              <a:gd name="adj" fmla="val 50000"/>
            </a:avLst>
          </a:prstGeom>
          <a:solidFill>
            <a:srgbClr val="278c8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Audit Log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Rounded Rectangle 22"/>
          <p:cNvSpPr/>
          <p:nvPr/>
        </p:nvSpPr>
        <p:spPr>
          <a:xfrm>
            <a:off x="8641080" y="3950280"/>
            <a:ext cx="3977280" cy="292320"/>
          </a:xfrm>
          <a:prstGeom prst="roundRect">
            <a:avLst>
              <a:gd name="adj" fmla="val 50000"/>
            </a:avLst>
          </a:prstGeom>
          <a:solidFill>
            <a:srgbClr val="278c8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Bantuan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Rounded Rectangle 23"/>
          <p:cNvSpPr/>
          <p:nvPr/>
        </p:nvSpPr>
        <p:spPr>
          <a:xfrm>
            <a:off x="10021680" y="3950280"/>
            <a:ext cx="3474360" cy="292320"/>
          </a:xfrm>
          <a:prstGeom prst="roundRect">
            <a:avLst>
              <a:gd name="adj" fmla="val 50000"/>
            </a:avLst>
          </a:prstGeom>
          <a:solidFill>
            <a:srgbClr val="278c8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Konten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Rounded Rectangle 24"/>
          <p:cNvSpPr/>
          <p:nvPr/>
        </p:nvSpPr>
        <p:spPr>
          <a:xfrm>
            <a:off x="11265480" y="3950280"/>
            <a:ext cx="5486040" cy="292320"/>
          </a:xfrm>
          <a:prstGeom prst="roundRect">
            <a:avLst>
              <a:gd name="adj" fmla="val 50000"/>
            </a:avLst>
          </a:prstGeom>
          <a:solidFill>
            <a:srgbClr val="278c8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Pengaturan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Rounded Rectangle 25"/>
          <p:cNvSpPr/>
          <p:nvPr/>
        </p:nvSpPr>
        <p:spPr>
          <a:xfrm>
            <a:off x="777240" y="4937760"/>
            <a:ext cx="10606680" cy="1234080"/>
          </a:xfrm>
          <a:prstGeom prst="roundRect">
            <a:avLst>
              <a:gd name="adj" fmla="val 8000"/>
            </a:avLst>
          </a:prstGeom>
          <a:solidFill>
            <a:srgbClr val="0b2e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FONDASI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100" b="0" u="none" strike="noStrike">
                <a:solidFill>
                  <a:srgbClr val="e0ecf6"/>
                </a:solidFill>
                <a:effectLst/>
                <a:uFillTx/>
                <a:latin typeface="Segoe UI"/>
              </a:rPr>
              <a:t>Keamanan, audit, otomatisasi &amp; database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Rounded Rectangle 26"/>
          <p:cNvSpPr/>
          <p:nvPr/>
        </p:nvSpPr>
        <p:spPr>
          <a:xfrm>
            <a:off x="1051560" y="5504760"/>
            <a:ext cx="5486040" cy="292320"/>
          </a:xfrm>
          <a:prstGeom prst="roundRect">
            <a:avLst>
              <a:gd name="adj" fmla="val 50000"/>
            </a:avLst>
          </a:prstGeom>
          <a:solidFill>
            <a:srgbClr val="2a537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Auth + 2FA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Rounded Rectangle 27"/>
          <p:cNvSpPr/>
          <p:nvPr/>
        </p:nvSpPr>
        <p:spPr>
          <a:xfrm>
            <a:off x="2697840" y="5029200"/>
            <a:ext cx="5988960" cy="292320"/>
          </a:xfrm>
          <a:prstGeom prst="roundRect">
            <a:avLst>
              <a:gd name="adj" fmla="val 50000"/>
            </a:avLst>
          </a:prstGeom>
          <a:solidFill>
            <a:srgbClr val="2a537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Audit Chain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Rounded Rectangle 28"/>
          <p:cNvSpPr/>
          <p:nvPr/>
        </p:nvSpPr>
        <p:spPr>
          <a:xfrm>
            <a:off x="4800600" y="5879880"/>
            <a:ext cx="6994800" cy="292320"/>
          </a:xfrm>
          <a:prstGeom prst="roundRect">
            <a:avLst>
              <a:gd name="adj" fmla="val 50000"/>
            </a:avLst>
          </a:prstGeom>
          <a:solidFill>
            <a:srgbClr val="2a537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Arsip 90 hari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Rounded Rectangle 29"/>
          <p:cNvSpPr/>
          <p:nvPr/>
        </p:nvSpPr>
        <p:spPr>
          <a:xfrm>
            <a:off x="6976800" y="5504760"/>
            <a:ext cx="3474360" cy="292320"/>
          </a:xfrm>
          <a:prstGeom prst="roundRect">
            <a:avLst>
              <a:gd name="adj" fmla="val 50000"/>
            </a:avLst>
          </a:prstGeom>
          <a:solidFill>
            <a:srgbClr val="2a537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Backup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Rounded Rectangle 30"/>
          <p:cNvSpPr/>
          <p:nvPr/>
        </p:nvSpPr>
        <p:spPr>
          <a:xfrm>
            <a:off x="8275680" y="4800600"/>
            <a:ext cx="4983120" cy="292320"/>
          </a:xfrm>
          <a:prstGeom prst="roundRect">
            <a:avLst>
              <a:gd name="adj" fmla="val 50000"/>
            </a:avLst>
          </a:prstGeom>
          <a:solidFill>
            <a:srgbClr val="2a537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Scheduler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Rounded Rectangle 31"/>
          <p:cNvSpPr/>
          <p:nvPr/>
        </p:nvSpPr>
        <p:spPr>
          <a:xfrm>
            <a:off x="9921600" y="5651280"/>
            <a:ext cx="4480200" cy="292320"/>
          </a:xfrm>
          <a:prstGeom prst="roundRect">
            <a:avLst>
              <a:gd name="adj" fmla="val 50000"/>
            </a:avLst>
          </a:prstGeom>
          <a:solidFill>
            <a:srgbClr val="2a537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Database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Rectangle 32"/>
          <p:cNvSpPr/>
          <p:nvPr/>
        </p:nvSpPr>
        <p:spPr>
          <a:xfrm>
            <a:off x="914400" y="6400800"/>
            <a:ext cx="11155320" cy="18000"/>
          </a:xfrm>
          <a:prstGeom prst="rect">
            <a:avLst/>
          </a:prstGeom>
          <a:solidFill>
            <a:srgbClr val="dce6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TextBox 33"/>
          <p:cNvSpPr/>
          <p:nvPr/>
        </p:nvSpPr>
        <p:spPr>
          <a:xfrm>
            <a:off x="502920" y="6537960"/>
            <a:ext cx="7314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u="none" strike="noStrike">
                <a:solidFill>
                  <a:srgbClr val="5a6a7a"/>
                </a:solidFill>
                <a:effectLst/>
                <a:uFillTx/>
                <a:latin typeface="Segoe UI"/>
              </a:rPr>
              <a:t>Bank Waway — Presentasi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34"/>
          <p:cNvSpPr/>
          <p:nvPr/>
        </p:nvSpPr>
        <p:spPr>
          <a:xfrm>
            <a:off x="10789920" y="6537960"/>
            <a:ext cx="868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15000"/>
              </a:lnSpc>
            </a:pPr>
            <a:r>
              <a:rPr lang="en-US" sz="900" b="0" u="none" strike="noStrike">
                <a:solidFill>
                  <a:srgbClr val="5a6a7a"/>
                </a:solidFill>
                <a:effectLst/>
                <a:uFillTx/>
                <a:latin typeface="Segoe UI"/>
              </a:rPr>
              <a:t>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Rectangle 1"/>
          <p:cNvSpPr/>
          <p:nvPr/>
        </p:nvSpPr>
        <p:spPr>
          <a:xfrm>
            <a:off x="0" y="0"/>
            <a:ext cx="182520" cy="6857640"/>
          </a:xfrm>
          <a:prstGeom prst="rect">
            <a:avLst/>
          </a:prstGeom>
          <a:solidFill>
            <a:srgbClr val="0b2e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Rectangle 2"/>
          <p:cNvSpPr/>
          <p:nvPr/>
        </p:nvSpPr>
        <p:spPr>
          <a:xfrm>
            <a:off x="502920" y="320040"/>
            <a:ext cx="82080" cy="548280"/>
          </a:xfrm>
          <a:prstGeom prst="rect">
            <a:avLst/>
          </a:prstGeom>
          <a:solidFill>
            <a:srgbClr val="f2b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Box 3"/>
          <p:cNvSpPr/>
          <p:nvPr/>
        </p:nvSpPr>
        <p:spPr>
          <a:xfrm>
            <a:off x="749880" y="27432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800" b="1" u="none" strike="noStrike">
                <a:solidFill>
                  <a:srgbClr val="0b2e4f"/>
                </a:solidFill>
                <a:effectLst/>
                <a:uFillTx/>
                <a:latin typeface="Segoe UI"/>
              </a:rPr>
              <a:t>Website Publik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4"/>
          <p:cNvSpPr/>
          <p:nvPr/>
        </p:nvSpPr>
        <p:spPr>
          <a:xfrm>
            <a:off x="777240" y="914400"/>
            <a:ext cx="10606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300" b="0" u="none" strike="noStrike">
                <a:solidFill>
                  <a:srgbClr val="5a6a7a"/>
                </a:solidFill>
                <a:effectLst/>
                <a:uFillTx/>
                <a:latin typeface="Segoe UI"/>
              </a:rPr>
              <a:t>Halaman yang dilihat pelanggan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Rectangle 5"/>
          <p:cNvSpPr/>
          <p:nvPr/>
        </p:nvSpPr>
        <p:spPr>
          <a:xfrm>
            <a:off x="502920" y="1417320"/>
            <a:ext cx="11155320" cy="18000"/>
          </a:xfrm>
          <a:prstGeom prst="rect">
            <a:avLst/>
          </a:prstGeom>
          <a:solidFill>
            <a:srgbClr val="dce6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Rounded Rectangle 6"/>
          <p:cNvSpPr/>
          <p:nvPr/>
        </p:nvSpPr>
        <p:spPr>
          <a:xfrm>
            <a:off x="777240" y="1828800"/>
            <a:ext cx="2880000" cy="1234080"/>
          </a:xfrm>
          <a:prstGeom prst="roundRect">
            <a:avLst>
              <a:gd name="adj" fmla="val 8000"/>
            </a:avLst>
          </a:prstGeom>
          <a:solidFill>
            <a:srgbClr val="e7f1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b2e4f"/>
                </a:solidFill>
                <a:effectLst/>
                <a:uFillTx/>
                <a:latin typeface="Segoe UI"/>
              </a:rPr>
              <a:t>Beranda Dinamis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100" b="0" u="none" strike="noStrike">
                <a:solidFill>
                  <a:srgbClr val="5a6a7a"/>
                </a:solidFill>
                <a:effectLst/>
                <a:uFillTx/>
                <a:latin typeface="Segoe UI"/>
              </a:rPr>
              <a:t>Hero, statistik, banner, produk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Rectangle 7"/>
          <p:cNvSpPr/>
          <p:nvPr/>
        </p:nvSpPr>
        <p:spPr>
          <a:xfrm>
            <a:off x="777240" y="1828800"/>
            <a:ext cx="54360" cy="1234080"/>
          </a:xfrm>
          <a:prstGeom prst="rect">
            <a:avLst/>
          </a:prstGeom>
          <a:solidFill>
            <a:srgbClr val="1e6fc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Rounded Rectangle 8"/>
          <p:cNvSpPr/>
          <p:nvPr/>
        </p:nvSpPr>
        <p:spPr>
          <a:xfrm>
            <a:off x="3977640" y="1828800"/>
            <a:ext cx="2880000" cy="1234080"/>
          </a:xfrm>
          <a:prstGeom prst="roundRect">
            <a:avLst>
              <a:gd name="adj" fmla="val 8000"/>
            </a:avLst>
          </a:prstGeom>
          <a:solidFill>
            <a:srgbClr val="e7f1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b2e4f"/>
                </a:solidFill>
                <a:effectLst/>
                <a:uFillTx/>
                <a:latin typeface="Segoe UI"/>
              </a:rPr>
              <a:t>Katalog Produk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100" b="0" u="none" strike="noStrike">
                <a:solidFill>
                  <a:srgbClr val="5a6a7a"/>
                </a:solidFill>
                <a:effectLst/>
                <a:uFillTx/>
                <a:latin typeface="Segoe UI"/>
              </a:rPr>
              <a:t>Tabungan, deposito, pinjaman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Rectangle 9"/>
          <p:cNvSpPr/>
          <p:nvPr/>
        </p:nvSpPr>
        <p:spPr>
          <a:xfrm>
            <a:off x="3977640" y="1828800"/>
            <a:ext cx="54360" cy="1234080"/>
          </a:xfrm>
          <a:prstGeom prst="rect">
            <a:avLst/>
          </a:prstGeom>
          <a:solidFill>
            <a:srgbClr val="1b9e9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Rounded Rectangle 10"/>
          <p:cNvSpPr/>
          <p:nvPr/>
        </p:nvSpPr>
        <p:spPr>
          <a:xfrm>
            <a:off x="777240" y="3264480"/>
            <a:ext cx="2880000" cy="1234080"/>
          </a:xfrm>
          <a:prstGeom prst="roundRect">
            <a:avLst>
              <a:gd name="adj" fmla="val 8000"/>
            </a:avLst>
          </a:prstGeom>
          <a:solidFill>
            <a:srgbClr val="e7f1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b2e4f"/>
                </a:solidFill>
                <a:effectLst/>
                <a:uFillTx/>
                <a:latin typeface="Segoe UI"/>
              </a:rPr>
              <a:t>Berita &amp; Info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100" b="0" u="none" strike="noStrike">
                <a:solidFill>
                  <a:srgbClr val="5a6a7a"/>
                </a:solidFill>
                <a:effectLst/>
                <a:uFillTx/>
                <a:latin typeface="Segoe UI"/>
              </a:rPr>
              <a:t>Berita terbit / draf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ectangle 11"/>
          <p:cNvSpPr/>
          <p:nvPr/>
        </p:nvSpPr>
        <p:spPr>
          <a:xfrm>
            <a:off x="777240" y="3264480"/>
            <a:ext cx="54360" cy="1234080"/>
          </a:xfrm>
          <a:prstGeom prst="rect">
            <a:avLst/>
          </a:prstGeom>
          <a:solidFill>
            <a:srgbClr val="4a9f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Rounded Rectangle 12"/>
          <p:cNvSpPr/>
          <p:nvPr/>
        </p:nvSpPr>
        <p:spPr>
          <a:xfrm>
            <a:off x="3977640" y="3264480"/>
            <a:ext cx="2880000" cy="1234080"/>
          </a:xfrm>
          <a:prstGeom prst="roundRect">
            <a:avLst>
              <a:gd name="adj" fmla="val 8000"/>
            </a:avLst>
          </a:prstGeom>
          <a:solidFill>
            <a:srgbClr val="e7f1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b2e4f"/>
                </a:solidFill>
                <a:effectLst/>
                <a:uFillTx/>
                <a:latin typeface="Segoe UI"/>
              </a:rPr>
              <a:t>Laporan Publik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100" b="0" u="none" strike="noStrike">
                <a:solidFill>
                  <a:srgbClr val="5a6a7a"/>
                </a:solidFill>
                <a:effectLst/>
                <a:uFillTx/>
                <a:latin typeface="Segoe UI"/>
              </a:rPr>
              <a:t>PDF &amp; arsip laporan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Rectangle 13"/>
          <p:cNvSpPr/>
          <p:nvPr/>
        </p:nvSpPr>
        <p:spPr>
          <a:xfrm>
            <a:off x="3977640" y="3264480"/>
            <a:ext cx="54360" cy="1234080"/>
          </a:xfrm>
          <a:prstGeom prst="rect">
            <a:avLst/>
          </a:prstGeom>
          <a:solidFill>
            <a:srgbClr val="f2b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Rounded Rectangle 14"/>
          <p:cNvSpPr/>
          <p:nvPr/>
        </p:nvSpPr>
        <p:spPr>
          <a:xfrm>
            <a:off x="777240" y="4700160"/>
            <a:ext cx="2880000" cy="1234080"/>
          </a:xfrm>
          <a:prstGeom prst="roundRect">
            <a:avLst>
              <a:gd name="adj" fmla="val 8000"/>
            </a:avLst>
          </a:prstGeom>
          <a:solidFill>
            <a:srgbClr val="e7f1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b2e4f"/>
                </a:solidFill>
                <a:effectLst/>
                <a:uFillTx/>
                <a:latin typeface="Segoe UI"/>
              </a:rPr>
              <a:t>Pengajuan Online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100" b="0" u="none" strike="noStrike">
                <a:solidFill>
                  <a:srgbClr val="5a6a7a"/>
                </a:solidFill>
                <a:effectLst/>
                <a:uFillTx/>
                <a:latin typeface="Segoe UI"/>
              </a:rPr>
              <a:t>Form + kode aplikasi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Rectangle 15"/>
          <p:cNvSpPr/>
          <p:nvPr/>
        </p:nvSpPr>
        <p:spPr>
          <a:xfrm>
            <a:off x="777240" y="4700160"/>
            <a:ext cx="54360" cy="1234080"/>
          </a:xfrm>
          <a:prstGeom prst="rect">
            <a:avLst/>
          </a:prstGeom>
          <a:solidFill>
            <a:srgbClr val="0b2e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Rounded Rectangle 16"/>
          <p:cNvSpPr/>
          <p:nvPr/>
        </p:nvSpPr>
        <p:spPr>
          <a:xfrm>
            <a:off x="3977640" y="4700160"/>
            <a:ext cx="2880000" cy="1234080"/>
          </a:xfrm>
          <a:prstGeom prst="roundRect">
            <a:avLst>
              <a:gd name="adj" fmla="val 8000"/>
            </a:avLst>
          </a:prstGeom>
          <a:solidFill>
            <a:srgbClr val="e7f1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b2e4f"/>
                </a:solidFill>
                <a:effectLst/>
                <a:uFillTx/>
                <a:latin typeface="Segoe UI"/>
              </a:rPr>
              <a:t>Kalkulator Kredit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100" b="0" u="none" strike="noStrike">
                <a:solidFill>
                  <a:srgbClr val="5a6a7a"/>
                </a:solidFill>
                <a:effectLst/>
                <a:uFillTx/>
                <a:latin typeface="Segoe UI"/>
              </a:rPr>
              <a:t>Hitung cicilan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Rectangle 17"/>
          <p:cNvSpPr/>
          <p:nvPr/>
        </p:nvSpPr>
        <p:spPr>
          <a:xfrm>
            <a:off x="3977640" y="4700160"/>
            <a:ext cx="54360" cy="1234080"/>
          </a:xfrm>
          <a:prstGeom prst="rect">
            <a:avLst/>
          </a:prstGeom>
          <a:solidFill>
            <a:srgbClr val="2fa45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TextBox 18"/>
          <p:cNvSpPr/>
          <p:nvPr/>
        </p:nvSpPr>
        <p:spPr>
          <a:xfrm>
            <a:off x="7086600" y="1828800"/>
            <a:ext cx="4388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600" b="1" u="none" strike="noStrike">
                <a:solidFill>
                  <a:srgbClr val="0b2e4f"/>
                </a:solidFill>
                <a:effectLst/>
                <a:uFillTx/>
                <a:latin typeface="Segoe UI"/>
              </a:rPr>
              <a:t>Alur Pelanggan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Chevron 19"/>
          <p:cNvSpPr/>
          <p:nvPr/>
        </p:nvSpPr>
        <p:spPr>
          <a:xfrm>
            <a:off x="7086600" y="2286000"/>
            <a:ext cx="4205880" cy="566640"/>
          </a:xfrm>
          <a:prstGeom prst="chevron">
            <a:avLst>
              <a:gd name="adj" fmla="val 50000"/>
            </a:avLst>
          </a:prstGeom>
          <a:solidFill>
            <a:srgbClr val="1e6fc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Kunjungi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Chevron 20"/>
          <p:cNvSpPr/>
          <p:nvPr/>
        </p:nvSpPr>
        <p:spPr>
          <a:xfrm>
            <a:off x="7086600" y="2853000"/>
            <a:ext cx="4205880" cy="566640"/>
          </a:xfrm>
          <a:prstGeom prst="chevron">
            <a:avLst>
              <a:gd name="adj" fmla="val 50000"/>
            </a:avLst>
          </a:prstGeom>
          <a:solidFill>
            <a:srgbClr val="1b9e9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Lihat Produk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Chevron 21"/>
          <p:cNvSpPr/>
          <p:nvPr/>
        </p:nvSpPr>
        <p:spPr>
          <a:xfrm>
            <a:off x="7086600" y="3420000"/>
            <a:ext cx="4205880" cy="566640"/>
          </a:xfrm>
          <a:prstGeom prst="chevron">
            <a:avLst>
              <a:gd name="adj" fmla="val 50000"/>
            </a:avLst>
          </a:prstGeom>
          <a:solidFill>
            <a:srgbClr val="4a9f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Ajukan / Hitung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Chevron 22"/>
          <p:cNvSpPr/>
          <p:nvPr/>
        </p:nvSpPr>
        <p:spPr>
          <a:xfrm>
            <a:off x="7086600" y="3986640"/>
            <a:ext cx="4205880" cy="566640"/>
          </a:xfrm>
          <a:prstGeom prst="chevron">
            <a:avLst>
              <a:gd name="adj" fmla="val 50000"/>
            </a:avLst>
          </a:prstGeom>
          <a:solidFill>
            <a:srgbClr val="f2b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Hubungi / WBS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Rectangle 23"/>
          <p:cNvSpPr/>
          <p:nvPr/>
        </p:nvSpPr>
        <p:spPr>
          <a:xfrm>
            <a:off x="502920" y="6473880"/>
            <a:ext cx="11155320" cy="18000"/>
          </a:xfrm>
          <a:prstGeom prst="rect">
            <a:avLst/>
          </a:prstGeom>
          <a:solidFill>
            <a:srgbClr val="dce6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TextBox 24"/>
          <p:cNvSpPr/>
          <p:nvPr/>
        </p:nvSpPr>
        <p:spPr>
          <a:xfrm>
            <a:off x="502920" y="6537960"/>
            <a:ext cx="7314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u="none" strike="noStrike">
                <a:solidFill>
                  <a:srgbClr val="5a6a7a"/>
                </a:solidFill>
                <a:effectLst/>
                <a:uFillTx/>
                <a:latin typeface="Segoe UI"/>
              </a:rPr>
              <a:t>Website Publik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25"/>
          <p:cNvSpPr/>
          <p:nvPr/>
        </p:nvSpPr>
        <p:spPr>
          <a:xfrm>
            <a:off x="10789920" y="6537960"/>
            <a:ext cx="868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15000"/>
              </a:lnSpc>
            </a:pPr>
            <a:r>
              <a:rPr lang="en-US" sz="900" b="0" u="none" strike="noStrike">
                <a:solidFill>
                  <a:srgbClr val="5a6a7a"/>
                </a:solidFill>
                <a:effectLst/>
                <a:uFillTx/>
                <a:latin typeface="Segoe UI"/>
              </a:rPr>
              <a:t>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Rectangle 1"/>
          <p:cNvSpPr/>
          <p:nvPr/>
        </p:nvSpPr>
        <p:spPr>
          <a:xfrm>
            <a:off x="0" y="0"/>
            <a:ext cx="182520" cy="6857640"/>
          </a:xfrm>
          <a:prstGeom prst="rect">
            <a:avLst/>
          </a:prstGeom>
          <a:solidFill>
            <a:srgbClr val="0b2e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Rectangle 2"/>
          <p:cNvSpPr/>
          <p:nvPr/>
        </p:nvSpPr>
        <p:spPr>
          <a:xfrm>
            <a:off x="502920" y="320040"/>
            <a:ext cx="82080" cy="548280"/>
          </a:xfrm>
          <a:prstGeom prst="rect">
            <a:avLst/>
          </a:prstGeom>
          <a:solidFill>
            <a:srgbClr val="f2b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TextBox 3"/>
          <p:cNvSpPr/>
          <p:nvPr/>
        </p:nvSpPr>
        <p:spPr>
          <a:xfrm>
            <a:off x="749880" y="27432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800" b="1" u="none" strike="noStrike">
                <a:solidFill>
                  <a:srgbClr val="0b2e4f"/>
                </a:solidFill>
                <a:effectLst/>
                <a:uFillTx/>
                <a:latin typeface="Segoe UI"/>
              </a:rPr>
              <a:t>Panel Admin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4"/>
          <p:cNvSpPr/>
          <p:nvPr/>
        </p:nvSpPr>
        <p:spPr>
          <a:xfrm>
            <a:off x="777240" y="914400"/>
            <a:ext cx="10606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300" b="0" u="none" strike="noStrike">
                <a:solidFill>
                  <a:srgbClr val="5a6a7a"/>
                </a:solidFill>
                <a:effectLst/>
                <a:uFillTx/>
                <a:latin typeface="Segoe UI"/>
              </a:rPr>
              <a:t>Modul back-office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Rectangle 5"/>
          <p:cNvSpPr/>
          <p:nvPr/>
        </p:nvSpPr>
        <p:spPr>
          <a:xfrm>
            <a:off x="502920" y="1417320"/>
            <a:ext cx="11155320" cy="18000"/>
          </a:xfrm>
          <a:prstGeom prst="rect">
            <a:avLst/>
          </a:prstGeom>
          <a:solidFill>
            <a:srgbClr val="dce6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Rounded Rectangle 6"/>
          <p:cNvSpPr/>
          <p:nvPr/>
        </p:nvSpPr>
        <p:spPr>
          <a:xfrm>
            <a:off x="777240" y="1965960"/>
            <a:ext cx="2514240" cy="1371240"/>
          </a:xfrm>
          <a:prstGeom prst="roundRect">
            <a:avLst>
              <a:gd name="adj" fmla="val 8000"/>
            </a:avLst>
          </a:prstGeom>
          <a:solidFill>
            <a:srgbClr val="1e6fc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Dashboard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100" b="0" u="none" strike="noStrike">
                <a:solidFill>
                  <a:srgbClr val="e0ecf6"/>
                </a:solidFill>
                <a:effectLst/>
                <a:uFillTx/>
                <a:latin typeface="Segoe UI"/>
              </a:rPr>
              <a:t>Statistik &amp; grafik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Rounded Rectangle 7"/>
          <p:cNvSpPr/>
          <p:nvPr/>
        </p:nvSpPr>
        <p:spPr>
          <a:xfrm>
            <a:off x="3584520" y="1965960"/>
            <a:ext cx="2514240" cy="1371240"/>
          </a:xfrm>
          <a:prstGeom prst="roundRect">
            <a:avLst>
              <a:gd name="adj" fmla="val 8000"/>
            </a:avLst>
          </a:prstGeom>
          <a:solidFill>
            <a:srgbClr val="1b9e9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Berita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100" b="0" u="none" strike="noStrike">
                <a:solidFill>
                  <a:srgbClr val="e0ecf6"/>
                </a:solidFill>
                <a:effectLst/>
                <a:uFillTx/>
                <a:latin typeface="Segoe UI"/>
              </a:rPr>
              <a:t>Kelola publikasi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Rounded Rectangle 8"/>
          <p:cNvSpPr/>
          <p:nvPr/>
        </p:nvSpPr>
        <p:spPr>
          <a:xfrm>
            <a:off x="6391800" y="1965960"/>
            <a:ext cx="2514240" cy="1371240"/>
          </a:xfrm>
          <a:prstGeom prst="roundRect">
            <a:avLst>
              <a:gd name="adj" fmla="val 8000"/>
            </a:avLst>
          </a:prstGeom>
          <a:solidFill>
            <a:srgbClr val="4a9f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Laporan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100" b="0" u="none" strike="noStrike">
                <a:solidFill>
                  <a:srgbClr val="e0ecf6"/>
                </a:solidFill>
                <a:effectLst/>
                <a:uFillTx/>
                <a:latin typeface="Segoe UI"/>
              </a:rPr>
              <a:t>Manajemen laporan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Rounded Rectangle 9"/>
          <p:cNvSpPr/>
          <p:nvPr/>
        </p:nvSpPr>
        <p:spPr>
          <a:xfrm>
            <a:off x="9198720" y="1965960"/>
            <a:ext cx="2514240" cy="1371240"/>
          </a:xfrm>
          <a:prstGeom prst="roundRect">
            <a:avLst>
              <a:gd name="adj" fmla="val 8000"/>
            </a:avLst>
          </a:prstGeom>
          <a:solidFill>
            <a:srgbClr val="f2b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Kepatuhan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100" b="0" u="none" strike="noStrike">
                <a:solidFill>
                  <a:srgbClr val="e0ecf6"/>
                </a:solidFill>
                <a:effectLst/>
                <a:uFillTx/>
                <a:latin typeface="Segoe UI"/>
              </a:rPr>
              <a:t>Dokumen kepatuhan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Rounded Rectangle 10"/>
          <p:cNvSpPr/>
          <p:nvPr/>
        </p:nvSpPr>
        <p:spPr>
          <a:xfrm>
            <a:off x="777240" y="3657600"/>
            <a:ext cx="2514240" cy="1371240"/>
          </a:xfrm>
          <a:prstGeom prst="roundRect">
            <a:avLst>
              <a:gd name="adj" fmla="val 8000"/>
            </a:avLst>
          </a:prstGeom>
          <a:solidFill>
            <a:srgbClr val="0b2e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Audit Log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100" b="0" u="none" strike="noStrike">
                <a:solidFill>
                  <a:srgbClr val="e0ecf6"/>
                </a:solidFill>
                <a:effectLst/>
                <a:uFillTx/>
                <a:latin typeface="Segoe UI"/>
              </a:rPr>
              <a:t>Jejak aktivitas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Rounded Rectangle 11"/>
          <p:cNvSpPr/>
          <p:nvPr/>
        </p:nvSpPr>
        <p:spPr>
          <a:xfrm>
            <a:off x="3584520" y="3657600"/>
            <a:ext cx="2514240" cy="1371240"/>
          </a:xfrm>
          <a:prstGeom prst="roundRect">
            <a:avLst>
              <a:gd name="adj" fmla="val 8000"/>
            </a:avLst>
          </a:prstGeom>
          <a:solidFill>
            <a:srgbClr val="2fa45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Bantuan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100" b="0" u="none" strike="noStrike">
                <a:solidFill>
                  <a:srgbClr val="e0ecf6"/>
                </a:solidFill>
                <a:effectLst/>
                <a:uFillTx/>
                <a:latin typeface="Segoe UI"/>
              </a:rPr>
              <a:t>Tiket dukungan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Rounded Rectangle 12"/>
          <p:cNvSpPr/>
          <p:nvPr/>
        </p:nvSpPr>
        <p:spPr>
          <a:xfrm>
            <a:off x="6391800" y="3657600"/>
            <a:ext cx="2514240" cy="1371240"/>
          </a:xfrm>
          <a:prstGeom prst="roundRect">
            <a:avLst>
              <a:gd name="adj" fmla="val 8000"/>
            </a:avLst>
          </a:prstGeom>
          <a:solidFill>
            <a:srgbClr val="1e6fc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Konten Web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100" b="0" u="none" strike="noStrike">
                <a:solidFill>
                  <a:srgbClr val="e0ecf6"/>
                </a:solidFill>
                <a:effectLst/>
                <a:uFillTx/>
                <a:latin typeface="Segoe UI"/>
              </a:rPr>
              <a:t>Editor konten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Rounded Rectangle 13"/>
          <p:cNvSpPr/>
          <p:nvPr/>
        </p:nvSpPr>
        <p:spPr>
          <a:xfrm>
            <a:off x="9198720" y="3657600"/>
            <a:ext cx="2514240" cy="1371240"/>
          </a:xfrm>
          <a:prstGeom prst="roundRect">
            <a:avLst>
              <a:gd name="adj" fmla="val 8000"/>
            </a:avLst>
          </a:prstGeom>
          <a:solidFill>
            <a:srgbClr val="1b9e9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Pengaturan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100" b="0" u="none" strike="noStrike">
                <a:solidFill>
                  <a:srgbClr val="e0ecf6"/>
                </a:solidFill>
                <a:effectLst/>
                <a:uFillTx/>
                <a:latin typeface="Segoe UI"/>
              </a:rPr>
              <a:t>Maintenance &amp; backup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Rectangle 14"/>
          <p:cNvSpPr/>
          <p:nvPr/>
        </p:nvSpPr>
        <p:spPr>
          <a:xfrm>
            <a:off x="502920" y="6473880"/>
            <a:ext cx="11155320" cy="18000"/>
          </a:xfrm>
          <a:prstGeom prst="rect">
            <a:avLst/>
          </a:prstGeom>
          <a:solidFill>
            <a:srgbClr val="dce6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" name="TextBox 15"/>
          <p:cNvSpPr/>
          <p:nvPr/>
        </p:nvSpPr>
        <p:spPr>
          <a:xfrm>
            <a:off x="502920" y="6537960"/>
            <a:ext cx="7314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u="none" strike="noStrike">
                <a:solidFill>
                  <a:srgbClr val="5a6a7a"/>
                </a:solidFill>
                <a:effectLst/>
                <a:uFillTx/>
                <a:latin typeface="Segoe UI"/>
              </a:rPr>
              <a:t>Panel Admin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16"/>
          <p:cNvSpPr/>
          <p:nvPr/>
        </p:nvSpPr>
        <p:spPr>
          <a:xfrm>
            <a:off x="10789920" y="6537960"/>
            <a:ext cx="868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15000"/>
              </a:lnSpc>
            </a:pPr>
            <a:r>
              <a:rPr lang="en-US" sz="900" b="0" u="none" strike="noStrike">
                <a:solidFill>
                  <a:srgbClr val="5a6a7a"/>
                </a:solidFill>
                <a:effectLst/>
                <a:uFillTx/>
                <a:latin typeface="Segoe UI"/>
              </a:rPr>
              <a:t>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Rectangle 1"/>
          <p:cNvSpPr/>
          <p:nvPr/>
        </p:nvSpPr>
        <p:spPr>
          <a:xfrm>
            <a:off x="0" y="0"/>
            <a:ext cx="182520" cy="6857640"/>
          </a:xfrm>
          <a:prstGeom prst="rect">
            <a:avLst/>
          </a:prstGeom>
          <a:solidFill>
            <a:srgbClr val="0b2e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Rectangle 2"/>
          <p:cNvSpPr/>
          <p:nvPr/>
        </p:nvSpPr>
        <p:spPr>
          <a:xfrm>
            <a:off x="502920" y="320040"/>
            <a:ext cx="82080" cy="548280"/>
          </a:xfrm>
          <a:prstGeom prst="rect">
            <a:avLst/>
          </a:prstGeom>
          <a:solidFill>
            <a:srgbClr val="f2b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TextBox 3"/>
          <p:cNvSpPr/>
          <p:nvPr/>
        </p:nvSpPr>
        <p:spPr>
          <a:xfrm>
            <a:off x="749880" y="27432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800" b="1" u="none" strike="noStrike">
                <a:solidFill>
                  <a:srgbClr val="0b2e4f"/>
                </a:solidFill>
                <a:effectLst/>
                <a:uFillTx/>
                <a:latin typeface="Segoe UI"/>
              </a:rPr>
              <a:t>Keamanan &amp; Autentikasi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4"/>
          <p:cNvSpPr/>
          <p:nvPr/>
        </p:nvSpPr>
        <p:spPr>
          <a:xfrm>
            <a:off x="777240" y="914400"/>
            <a:ext cx="10606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300" b="0" u="none" strike="noStrike">
                <a:solidFill>
                  <a:srgbClr val="5a6a7a"/>
                </a:solidFill>
                <a:effectLst/>
                <a:uFillTx/>
                <a:latin typeface="Segoe UI"/>
              </a:rPr>
              <a:t>Melindungi panel admin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Rectangle 5"/>
          <p:cNvSpPr/>
          <p:nvPr/>
        </p:nvSpPr>
        <p:spPr>
          <a:xfrm>
            <a:off x="502920" y="1417320"/>
            <a:ext cx="11155320" cy="18000"/>
          </a:xfrm>
          <a:prstGeom prst="rect">
            <a:avLst/>
          </a:prstGeom>
          <a:solidFill>
            <a:srgbClr val="dce6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5" name="Rounded Rectangle 6"/>
          <p:cNvSpPr/>
          <p:nvPr/>
        </p:nvSpPr>
        <p:spPr>
          <a:xfrm>
            <a:off x="777240" y="1874520"/>
            <a:ext cx="3382920" cy="1371240"/>
          </a:xfrm>
          <a:prstGeom prst="roundRect">
            <a:avLst>
              <a:gd name="adj" fmla="val 8000"/>
            </a:avLst>
          </a:prstGeom>
          <a:solidFill>
            <a:srgbClr val="1e6fc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Login Admin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200" b="0" u="none" strike="noStrike">
                <a:solidFill>
                  <a:srgbClr val="e0ecf6"/>
                </a:solidFill>
                <a:effectLst/>
                <a:uFillTx/>
                <a:latin typeface="Segoe UI"/>
              </a:rPr>
              <a:t>Guard khusus admin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Rounded Rectangle 7"/>
          <p:cNvSpPr/>
          <p:nvPr/>
        </p:nvSpPr>
        <p:spPr>
          <a:xfrm>
            <a:off x="4480560" y="1874520"/>
            <a:ext cx="3382920" cy="1371240"/>
          </a:xfrm>
          <a:prstGeom prst="roundRect">
            <a:avLst>
              <a:gd name="adj" fmla="val 8000"/>
            </a:avLst>
          </a:prstGeom>
          <a:solidFill>
            <a:srgbClr val="1b9e9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2FA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200" b="0" u="none" strike="noStrike">
                <a:solidFill>
                  <a:srgbClr val="e0ecf6"/>
                </a:solidFill>
                <a:effectLst/>
                <a:uFillTx/>
                <a:latin typeface="Segoe UI"/>
              </a:rPr>
              <a:t>Kode sekali pakai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Rounded Rectangle 8"/>
          <p:cNvSpPr/>
          <p:nvPr/>
        </p:nvSpPr>
        <p:spPr>
          <a:xfrm>
            <a:off x="8183880" y="1874520"/>
            <a:ext cx="3382920" cy="1371240"/>
          </a:xfrm>
          <a:prstGeom prst="roundRect">
            <a:avLst>
              <a:gd name="adj" fmla="val 8000"/>
            </a:avLst>
          </a:prstGeom>
          <a:solidFill>
            <a:srgbClr val="d54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Lockout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200" b="0" u="none" strike="noStrike">
                <a:solidFill>
                  <a:srgbClr val="e0ecf6"/>
                </a:solidFill>
                <a:effectLst/>
                <a:uFillTx/>
                <a:latin typeface="Segoe UI"/>
              </a:rPr>
              <a:t>Kunci setelah 5 gagal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Rounded Rectangle 9"/>
          <p:cNvSpPr/>
          <p:nvPr/>
        </p:nvSpPr>
        <p:spPr>
          <a:xfrm>
            <a:off x="777240" y="3566160"/>
            <a:ext cx="3382920" cy="1371240"/>
          </a:xfrm>
          <a:prstGeom prst="roundRect">
            <a:avLst>
              <a:gd name="adj" fmla="val 8000"/>
            </a:avLst>
          </a:prstGeom>
          <a:solidFill>
            <a:srgbClr val="f2b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Maintenance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200" b="0" u="none" strike="noStrike">
                <a:solidFill>
                  <a:srgbClr val="e0ecf6"/>
                </a:solidFill>
                <a:effectLst/>
                <a:uFillTx/>
                <a:latin typeface="Segoe UI"/>
              </a:rPr>
              <a:t>Blokir saat pemeliharaan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Rounded Rectangle 10"/>
          <p:cNvSpPr/>
          <p:nvPr/>
        </p:nvSpPr>
        <p:spPr>
          <a:xfrm>
            <a:off x="4480560" y="3566160"/>
            <a:ext cx="3382920" cy="1371240"/>
          </a:xfrm>
          <a:prstGeom prst="roundRect">
            <a:avLst>
              <a:gd name="adj" fmla="val 8000"/>
            </a:avLst>
          </a:prstGeom>
          <a:solidFill>
            <a:srgbClr val="0b2e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Throttle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200" b="0" u="none" strike="noStrike">
                <a:solidFill>
                  <a:srgbClr val="e0ecf6"/>
                </a:solidFill>
                <a:effectLst/>
                <a:uFillTx/>
                <a:latin typeface="Segoe UI"/>
              </a:rPr>
              <a:t>Batasi jumlah request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Rounded Rectangle 11"/>
          <p:cNvSpPr/>
          <p:nvPr/>
        </p:nvSpPr>
        <p:spPr>
          <a:xfrm>
            <a:off x="8183880" y="3566160"/>
            <a:ext cx="3382920" cy="1371240"/>
          </a:xfrm>
          <a:prstGeom prst="roundRect">
            <a:avLst>
              <a:gd name="adj" fmla="val 8000"/>
            </a:avLst>
          </a:prstGeom>
          <a:solidFill>
            <a:srgbClr val="2fa45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Sanitasi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200" b="0" u="none" strike="noStrike">
                <a:solidFill>
                  <a:srgbClr val="e0ecf6"/>
                </a:solidFill>
                <a:effectLst/>
                <a:uFillTx/>
                <a:latin typeface="Segoe UI"/>
              </a:rPr>
              <a:t>Bersihkan input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Rounded Rectangle 12"/>
          <p:cNvSpPr/>
          <p:nvPr/>
        </p:nvSpPr>
        <p:spPr>
          <a:xfrm>
            <a:off x="777240" y="5029200"/>
            <a:ext cx="10606680" cy="63972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ce6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TextBox 13"/>
          <p:cNvSpPr/>
          <p:nvPr/>
        </p:nvSpPr>
        <p:spPr>
          <a:xfrm>
            <a:off x="1005840" y="513900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300" b="0" u="none" strike="noStrike">
                <a:solidFill>
                  <a:srgbClr val="0b2e4f"/>
                </a:solidFill>
                <a:effectLst/>
                <a:uFillTx/>
                <a:latin typeface="Segoe UI"/>
              </a:rPr>
              <a:t>Middleware SecurityHeaders: X-Frame-Options  •  X-Content-Type-Options  •  Referrer-Policy  •  Permissions-Policy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Rectangle 14"/>
          <p:cNvSpPr/>
          <p:nvPr/>
        </p:nvSpPr>
        <p:spPr>
          <a:xfrm>
            <a:off x="502920" y="6473880"/>
            <a:ext cx="11155320" cy="18000"/>
          </a:xfrm>
          <a:prstGeom prst="rect">
            <a:avLst/>
          </a:prstGeom>
          <a:solidFill>
            <a:srgbClr val="dce6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TextBox 15"/>
          <p:cNvSpPr/>
          <p:nvPr/>
        </p:nvSpPr>
        <p:spPr>
          <a:xfrm>
            <a:off x="502920" y="6537960"/>
            <a:ext cx="7314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u="none" strike="noStrike">
                <a:solidFill>
                  <a:srgbClr val="5a6a7a"/>
                </a:solidFill>
                <a:effectLst/>
                <a:uFillTx/>
                <a:latin typeface="Segoe UI"/>
              </a:rPr>
              <a:t>Keamanan &amp; Autentikasi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16"/>
          <p:cNvSpPr/>
          <p:nvPr/>
        </p:nvSpPr>
        <p:spPr>
          <a:xfrm>
            <a:off x="10789920" y="6537960"/>
            <a:ext cx="868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15000"/>
              </a:lnSpc>
            </a:pPr>
            <a:r>
              <a:rPr lang="en-US" sz="900" b="0" u="none" strike="noStrike">
                <a:solidFill>
                  <a:srgbClr val="5a6a7a"/>
                </a:solidFill>
                <a:effectLst/>
                <a:uFillTx/>
                <a:latin typeface="Segoe UI"/>
              </a:rPr>
              <a:t>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Rectangle 1"/>
          <p:cNvSpPr/>
          <p:nvPr/>
        </p:nvSpPr>
        <p:spPr>
          <a:xfrm>
            <a:off x="0" y="0"/>
            <a:ext cx="182520" cy="6857640"/>
          </a:xfrm>
          <a:prstGeom prst="rect">
            <a:avLst/>
          </a:prstGeom>
          <a:solidFill>
            <a:srgbClr val="0b2e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Rectangle 2"/>
          <p:cNvSpPr/>
          <p:nvPr/>
        </p:nvSpPr>
        <p:spPr>
          <a:xfrm>
            <a:off x="502920" y="320040"/>
            <a:ext cx="82080" cy="548280"/>
          </a:xfrm>
          <a:prstGeom prst="rect">
            <a:avLst/>
          </a:prstGeom>
          <a:solidFill>
            <a:srgbClr val="f2b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" name="TextBox 3"/>
          <p:cNvSpPr/>
          <p:nvPr/>
        </p:nvSpPr>
        <p:spPr>
          <a:xfrm>
            <a:off x="749880" y="27432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800" b="1" u="none" strike="noStrike">
                <a:solidFill>
                  <a:srgbClr val="0b2e4f"/>
                </a:solidFill>
                <a:effectLst/>
                <a:uFillTx/>
                <a:latin typeface="Segoe UI"/>
              </a:rPr>
              <a:t>Audit Log — Rantai Anti-Tamper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4"/>
          <p:cNvSpPr/>
          <p:nvPr/>
        </p:nvSpPr>
        <p:spPr>
          <a:xfrm>
            <a:off x="777240" y="914400"/>
            <a:ext cx="10606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300" b="0" u="none" strike="noStrike">
                <a:solidFill>
                  <a:srgbClr val="5a6a7a"/>
                </a:solidFill>
                <a:effectLst/>
                <a:uFillTx/>
                <a:latin typeface="Segoe UI"/>
              </a:rPr>
              <a:t>Jejak semua aksi admin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Rectangle 5"/>
          <p:cNvSpPr/>
          <p:nvPr/>
        </p:nvSpPr>
        <p:spPr>
          <a:xfrm>
            <a:off x="502920" y="1417320"/>
            <a:ext cx="11155320" cy="18000"/>
          </a:xfrm>
          <a:prstGeom prst="rect">
            <a:avLst/>
          </a:prstGeom>
          <a:solidFill>
            <a:srgbClr val="dce6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Box 6"/>
          <p:cNvSpPr/>
          <p:nvPr/>
        </p:nvSpPr>
        <p:spPr>
          <a:xfrm>
            <a:off x="777240" y="1920600"/>
            <a:ext cx="10606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300" b="0" u="none" strike="noStrike">
                <a:solidFill>
                  <a:srgbClr val="5a6a7a"/>
                </a:solidFill>
                <a:effectLst/>
                <a:uFillTx/>
                <a:latin typeface="Segoe UI"/>
              </a:rPr>
              <a:t>Setiap catatan menyimpan hash SHA-256 dari isinya + hash catatan sebelumnya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Oval 7"/>
          <p:cNvSpPr/>
          <p:nvPr/>
        </p:nvSpPr>
        <p:spPr>
          <a:xfrm>
            <a:off x="1344240" y="2286000"/>
            <a:ext cx="456840" cy="456840"/>
          </a:xfrm>
          <a:prstGeom prst="ellipse">
            <a:avLst/>
          </a:prstGeom>
          <a:solidFill>
            <a:srgbClr val="1e6fc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TextBox 8"/>
          <p:cNvSpPr/>
          <p:nvPr/>
        </p:nvSpPr>
        <p:spPr>
          <a:xfrm>
            <a:off x="1344240" y="28530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100" b="1" u="none" strike="noStrike">
                <a:solidFill>
                  <a:srgbClr val="202a35"/>
                </a:solidFill>
                <a:effectLst/>
                <a:uFillTx/>
                <a:latin typeface="Segoe UI"/>
              </a:rPr>
              <a:t>Log #1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Rounded Rectangle 9"/>
          <p:cNvSpPr/>
          <p:nvPr/>
        </p:nvSpPr>
        <p:spPr>
          <a:xfrm>
            <a:off x="914400" y="1371600"/>
            <a:ext cx="2194200" cy="566640"/>
          </a:xfrm>
          <a:prstGeom prst="roundRect">
            <a:avLst>
              <a:gd name="adj" fmla="val 8000"/>
            </a:avLst>
          </a:prstGeom>
          <a:solidFill>
            <a:srgbClr val="1e6fc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hash[1]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Rectangle 10"/>
          <p:cNvSpPr/>
          <p:nvPr/>
        </p:nvSpPr>
        <p:spPr>
          <a:xfrm>
            <a:off x="3108960" y="1664280"/>
            <a:ext cx="319680" cy="27000"/>
          </a:xfrm>
          <a:prstGeom prst="rect">
            <a:avLst/>
          </a:prstGeom>
          <a:solidFill>
            <a:srgbClr val="b9c9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Right Arrow 11"/>
          <p:cNvSpPr/>
          <p:nvPr/>
        </p:nvSpPr>
        <p:spPr>
          <a:xfrm>
            <a:off x="3154680" y="1572840"/>
            <a:ext cx="273960" cy="164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9c9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080" bIns="370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7" name="Oval 12"/>
          <p:cNvSpPr/>
          <p:nvPr/>
        </p:nvSpPr>
        <p:spPr>
          <a:xfrm>
            <a:off x="3858840" y="2286000"/>
            <a:ext cx="456840" cy="456840"/>
          </a:xfrm>
          <a:prstGeom prst="ellipse">
            <a:avLst/>
          </a:prstGeom>
          <a:solidFill>
            <a:srgbClr val="1b9e9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TextBox 13"/>
          <p:cNvSpPr/>
          <p:nvPr/>
        </p:nvSpPr>
        <p:spPr>
          <a:xfrm>
            <a:off x="3858840" y="28530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100" b="1" u="none" strike="noStrike">
                <a:solidFill>
                  <a:srgbClr val="202a35"/>
                </a:solidFill>
                <a:effectLst/>
                <a:uFillTx/>
                <a:latin typeface="Segoe UI"/>
              </a:rPr>
              <a:t>Log #2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Rounded Rectangle 14"/>
          <p:cNvSpPr/>
          <p:nvPr/>
        </p:nvSpPr>
        <p:spPr>
          <a:xfrm>
            <a:off x="3429000" y="1371600"/>
            <a:ext cx="2194200" cy="566640"/>
          </a:xfrm>
          <a:prstGeom prst="roundRect">
            <a:avLst>
              <a:gd name="adj" fmla="val 8000"/>
            </a:avLst>
          </a:prstGeom>
          <a:solidFill>
            <a:srgbClr val="1b9e9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hash[2]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Rectangle 15"/>
          <p:cNvSpPr/>
          <p:nvPr/>
        </p:nvSpPr>
        <p:spPr>
          <a:xfrm>
            <a:off x="5623560" y="1664280"/>
            <a:ext cx="319680" cy="27000"/>
          </a:xfrm>
          <a:prstGeom prst="rect">
            <a:avLst/>
          </a:prstGeom>
          <a:solidFill>
            <a:srgbClr val="b9c9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Right Arrow 16"/>
          <p:cNvSpPr/>
          <p:nvPr/>
        </p:nvSpPr>
        <p:spPr>
          <a:xfrm>
            <a:off x="5669280" y="1572840"/>
            <a:ext cx="273960" cy="164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9c9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080" bIns="370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2" name="Oval 17"/>
          <p:cNvSpPr/>
          <p:nvPr/>
        </p:nvSpPr>
        <p:spPr>
          <a:xfrm>
            <a:off x="6373440" y="2286000"/>
            <a:ext cx="456840" cy="456840"/>
          </a:xfrm>
          <a:prstGeom prst="ellipse">
            <a:avLst/>
          </a:prstGeom>
          <a:solidFill>
            <a:srgbClr val="f2b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TextBox 18"/>
          <p:cNvSpPr/>
          <p:nvPr/>
        </p:nvSpPr>
        <p:spPr>
          <a:xfrm>
            <a:off x="6373440" y="28530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100" b="1" u="none" strike="noStrike">
                <a:solidFill>
                  <a:srgbClr val="202a35"/>
                </a:solidFill>
                <a:effectLst/>
                <a:uFillTx/>
                <a:latin typeface="Segoe UI"/>
              </a:rPr>
              <a:t>Log #3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Rounded Rectangle 19"/>
          <p:cNvSpPr/>
          <p:nvPr/>
        </p:nvSpPr>
        <p:spPr>
          <a:xfrm>
            <a:off x="5943600" y="1371600"/>
            <a:ext cx="2194200" cy="566640"/>
          </a:xfrm>
          <a:prstGeom prst="roundRect">
            <a:avLst>
              <a:gd name="adj" fmla="val 8000"/>
            </a:avLst>
          </a:prstGeom>
          <a:solidFill>
            <a:srgbClr val="f2b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hash[3]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Rectangle 20"/>
          <p:cNvSpPr/>
          <p:nvPr/>
        </p:nvSpPr>
        <p:spPr>
          <a:xfrm>
            <a:off x="8138160" y="1664280"/>
            <a:ext cx="319680" cy="27000"/>
          </a:xfrm>
          <a:prstGeom prst="rect">
            <a:avLst/>
          </a:prstGeom>
          <a:solidFill>
            <a:srgbClr val="b9c9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6" name="Right Arrow 21"/>
          <p:cNvSpPr/>
          <p:nvPr/>
        </p:nvSpPr>
        <p:spPr>
          <a:xfrm>
            <a:off x="8183880" y="1572840"/>
            <a:ext cx="273960" cy="1641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9c9d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7080" bIns="370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Oval 22"/>
          <p:cNvSpPr/>
          <p:nvPr/>
        </p:nvSpPr>
        <p:spPr>
          <a:xfrm>
            <a:off x="8888040" y="2286000"/>
            <a:ext cx="456840" cy="456840"/>
          </a:xfrm>
          <a:prstGeom prst="ellipse">
            <a:avLst/>
          </a:prstGeom>
          <a:solidFill>
            <a:srgbClr val="0b2e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8" name="TextBox 23"/>
          <p:cNvSpPr/>
          <p:nvPr/>
        </p:nvSpPr>
        <p:spPr>
          <a:xfrm>
            <a:off x="8888040" y="28530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100" b="1" u="none" strike="noStrike">
                <a:solidFill>
                  <a:srgbClr val="202a35"/>
                </a:solidFill>
                <a:effectLst/>
                <a:uFillTx/>
                <a:latin typeface="Segoe UI"/>
              </a:rPr>
              <a:t>Log #4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Rounded Rectangle 24"/>
          <p:cNvSpPr/>
          <p:nvPr/>
        </p:nvSpPr>
        <p:spPr>
          <a:xfrm>
            <a:off x="8458200" y="1371600"/>
            <a:ext cx="2194200" cy="566640"/>
          </a:xfrm>
          <a:prstGeom prst="roundRect">
            <a:avLst>
              <a:gd name="adj" fmla="val 8000"/>
            </a:avLst>
          </a:prstGeom>
          <a:solidFill>
            <a:srgbClr val="0b2e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hash[4]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25"/>
          <p:cNvSpPr/>
          <p:nvPr/>
        </p:nvSpPr>
        <p:spPr>
          <a:xfrm>
            <a:off x="777240" y="3977640"/>
            <a:ext cx="10606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300" b="1" u="none" strike="noStrike">
                <a:solidFill>
                  <a:srgbClr val="0b2e4f"/>
                </a:solidFill>
                <a:effectLst/>
                <a:uFillTx/>
                <a:latin typeface="Segoe UI"/>
              </a:rPr>
              <a:t>prev_hash → hash = SHA-256( payload + prev_hash 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Rounded Rectangle 26"/>
          <p:cNvSpPr/>
          <p:nvPr/>
        </p:nvSpPr>
        <p:spPr>
          <a:xfrm>
            <a:off x="777240" y="4572000"/>
            <a:ext cx="3474360" cy="959760"/>
          </a:xfrm>
          <a:prstGeom prst="roundRect">
            <a:avLst>
              <a:gd name="adj" fmla="val 8000"/>
            </a:avLst>
          </a:prstGeom>
          <a:solidFill>
            <a:srgbClr val="1e6fc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Detail Aksi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100" b="0" u="none" strike="noStrike">
                <a:solidFill>
                  <a:srgbClr val="e0ecf6"/>
                </a:solidFill>
                <a:effectLst/>
                <a:uFillTx/>
                <a:latin typeface="Segoe UI"/>
              </a:rPr>
              <a:t>admin, modul, aksi, route, status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Rounded Rectangle 27"/>
          <p:cNvSpPr/>
          <p:nvPr/>
        </p:nvSpPr>
        <p:spPr>
          <a:xfrm>
            <a:off x="4389120" y="4572000"/>
            <a:ext cx="3474360" cy="959760"/>
          </a:xfrm>
          <a:prstGeom prst="roundRect">
            <a:avLst>
              <a:gd name="adj" fmla="val 8000"/>
            </a:avLst>
          </a:prstGeom>
          <a:solidFill>
            <a:srgbClr val="1b9e9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Asal Request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100" b="0" u="none" strike="noStrike">
                <a:solidFill>
                  <a:srgbClr val="e0ecf6"/>
                </a:solidFill>
                <a:effectLst/>
                <a:uFillTx/>
                <a:latin typeface="Segoe UI"/>
              </a:rPr>
              <a:t>IP, user-agent, session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Rounded Rectangle 28"/>
          <p:cNvSpPr/>
          <p:nvPr/>
        </p:nvSpPr>
        <p:spPr>
          <a:xfrm>
            <a:off x="8001000" y="4572000"/>
            <a:ext cx="3474360" cy="959760"/>
          </a:xfrm>
          <a:prstGeom prst="roundRect">
            <a:avLst>
              <a:gd name="adj" fmla="val 8000"/>
            </a:avLst>
          </a:prstGeom>
          <a:solidFill>
            <a:srgbClr val="f2b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Sebelum / Sesudah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100" b="0" u="none" strike="noStrike">
                <a:solidFill>
                  <a:srgbClr val="e0ecf6"/>
                </a:solidFill>
                <a:effectLst/>
                <a:uFillTx/>
                <a:latin typeface="Segoe UI"/>
              </a:rPr>
              <a:t>nilai lama &amp; baru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Rectangle 29"/>
          <p:cNvSpPr/>
          <p:nvPr/>
        </p:nvSpPr>
        <p:spPr>
          <a:xfrm>
            <a:off x="502920" y="6473880"/>
            <a:ext cx="11155320" cy="18000"/>
          </a:xfrm>
          <a:prstGeom prst="rect">
            <a:avLst/>
          </a:prstGeom>
          <a:solidFill>
            <a:srgbClr val="dce6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5" name="TextBox 30"/>
          <p:cNvSpPr/>
          <p:nvPr/>
        </p:nvSpPr>
        <p:spPr>
          <a:xfrm>
            <a:off x="502920" y="6537960"/>
            <a:ext cx="7314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u="none" strike="noStrike">
                <a:solidFill>
                  <a:srgbClr val="5a6a7a"/>
                </a:solidFill>
                <a:effectLst/>
                <a:uFillTx/>
                <a:latin typeface="Segoe UI"/>
              </a:rPr>
              <a:t>Audit Log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31"/>
          <p:cNvSpPr/>
          <p:nvPr/>
        </p:nvSpPr>
        <p:spPr>
          <a:xfrm>
            <a:off x="10789920" y="6537960"/>
            <a:ext cx="868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15000"/>
              </a:lnSpc>
            </a:pPr>
            <a:r>
              <a:rPr lang="en-US" sz="900" b="0" u="none" strike="noStrike">
                <a:solidFill>
                  <a:srgbClr val="5a6a7a"/>
                </a:solidFill>
                <a:effectLst/>
                <a:uFillTx/>
                <a:latin typeface="Segoe UI"/>
              </a:rPr>
              <a:t>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Rectangle 1"/>
          <p:cNvSpPr/>
          <p:nvPr/>
        </p:nvSpPr>
        <p:spPr>
          <a:xfrm>
            <a:off x="0" y="0"/>
            <a:ext cx="182520" cy="6857640"/>
          </a:xfrm>
          <a:prstGeom prst="rect">
            <a:avLst/>
          </a:prstGeom>
          <a:solidFill>
            <a:srgbClr val="0b2e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8" name="Rectangle 2"/>
          <p:cNvSpPr/>
          <p:nvPr/>
        </p:nvSpPr>
        <p:spPr>
          <a:xfrm>
            <a:off x="502920" y="320040"/>
            <a:ext cx="82080" cy="548280"/>
          </a:xfrm>
          <a:prstGeom prst="rect">
            <a:avLst/>
          </a:prstGeom>
          <a:solidFill>
            <a:srgbClr val="f2b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9" name="TextBox 3"/>
          <p:cNvSpPr/>
          <p:nvPr/>
        </p:nvSpPr>
        <p:spPr>
          <a:xfrm>
            <a:off x="749880" y="27432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800" b="1" u="none" strike="noStrike">
                <a:solidFill>
                  <a:srgbClr val="0b2e4f"/>
                </a:solidFill>
                <a:effectLst/>
                <a:uFillTx/>
                <a:latin typeface="Segoe UI"/>
              </a:rPr>
              <a:t>Kepatuhan &amp; Laporan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4"/>
          <p:cNvSpPr/>
          <p:nvPr/>
        </p:nvSpPr>
        <p:spPr>
          <a:xfrm>
            <a:off x="777240" y="914400"/>
            <a:ext cx="10606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300" b="0" u="none" strike="noStrike">
                <a:solidFill>
                  <a:srgbClr val="5a6a7a"/>
                </a:solidFill>
                <a:effectLst/>
                <a:uFillTx/>
                <a:latin typeface="Segoe UI"/>
              </a:rPr>
              <a:t>Alur dokumen kepatuhan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Rectangle 5"/>
          <p:cNvSpPr/>
          <p:nvPr/>
        </p:nvSpPr>
        <p:spPr>
          <a:xfrm>
            <a:off x="502920" y="1417320"/>
            <a:ext cx="11155320" cy="18000"/>
          </a:xfrm>
          <a:prstGeom prst="rect">
            <a:avLst/>
          </a:prstGeom>
          <a:solidFill>
            <a:srgbClr val="dce6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2" name="TextBox 6"/>
          <p:cNvSpPr/>
          <p:nvPr/>
        </p:nvSpPr>
        <p:spPr>
          <a:xfrm>
            <a:off x="777240" y="1691640"/>
            <a:ext cx="10606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500" b="1" u="none" strike="noStrike">
                <a:solidFill>
                  <a:srgbClr val="0b2e4f"/>
                </a:solidFill>
                <a:effectLst/>
                <a:uFillTx/>
                <a:latin typeface="Segoe UI"/>
              </a:rPr>
              <a:t>Alur Status Dokumen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Chevron 7"/>
          <p:cNvSpPr/>
          <p:nvPr/>
        </p:nvSpPr>
        <p:spPr>
          <a:xfrm>
            <a:off x="1463040" y="2103120"/>
            <a:ext cx="3017160" cy="731160"/>
          </a:xfrm>
          <a:prstGeom prst="chevron">
            <a:avLst>
              <a:gd name="adj" fmla="val 50000"/>
            </a:avLst>
          </a:prstGeom>
          <a:solidFill>
            <a:srgbClr val="5a6a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Draft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Chevron 8"/>
          <p:cNvSpPr/>
          <p:nvPr/>
        </p:nvSpPr>
        <p:spPr>
          <a:xfrm>
            <a:off x="4663440" y="2103120"/>
            <a:ext cx="3017160" cy="731160"/>
          </a:xfrm>
          <a:prstGeom prst="chevron">
            <a:avLst>
              <a:gd name="adj" fmla="val 50000"/>
            </a:avLst>
          </a:prstGeom>
          <a:solidFill>
            <a:srgbClr val="2fa45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Published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Chevron 9"/>
          <p:cNvSpPr/>
          <p:nvPr/>
        </p:nvSpPr>
        <p:spPr>
          <a:xfrm>
            <a:off x="7863840" y="2103120"/>
            <a:ext cx="3017160" cy="731160"/>
          </a:xfrm>
          <a:prstGeom prst="chevron">
            <a:avLst>
              <a:gd name="adj" fmla="val 50000"/>
            </a:avLst>
          </a:prstGeom>
          <a:solidFill>
            <a:srgbClr val="4a9f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4572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Archived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Rounded Rectangle 10"/>
          <p:cNvSpPr/>
          <p:nvPr/>
        </p:nvSpPr>
        <p:spPr>
          <a:xfrm>
            <a:off x="777240" y="3291840"/>
            <a:ext cx="5348880" cy="1234080"/>
          </a:xfrm>
          <a:prstGeom prst="roundRect">
            <a:avLst>
              <a:gd name="adj" fmla="val 8000"/>
            </a:avLst>
          </a:prstGeom>
          <a:solidFill>
            <a:srgbClr val="1e6fc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Metadata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100" b="0" u="none" strike="noStrike">
                <a:solidFill>
                  <a:srgbClr val="e0ecf6"/>
                </a:solidFill>
                <a:effectLst/>
                <a:uFillTx/>
                <a:latin typeface="Segoe UI"/>
              </a:rPr>
              <a:t>Judul, file, ukuran, tahun fiskal, kategori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Rounded Rectangle 11"/>
          <p:cNvSpPr/>
          <p:nvPr/>
        </p:nvSpPr>
        <p:spPr>
          <a:xfrm>
            <a:off x="6446520" y="3291840"/>
            <a:ext cx="5348880" cy="1234080"/>
          </a:xfrm>
          <a:prstGeom prst="roundRect">
            <a:avLst>
              <a:gd name="adj" fmla="val 8000"/>
            </a:avLst>
          </a:prstGeom>
          <a:solidFill>
            <a:srgbClr val="1b9e9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Keamanan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100" b="0" u="none" strike="noStrike">
                <a:solidFill>
                  <a:srgbClr val="e0ecf6"/>
                </a:solidFill>
                <a:effectLst/>
                <a:uFillTx/>
                <a:latin typeface="Segoe UI"/>
              </a:rPr>
              <a:t>Level keamanan &amp; tanggal retensi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Rounded Rectangle 12"/>
          <p:cNvSpPr/>
          <p:nvPr/>
        </p:nvSpPr>
        <p:spPr>
          <a:xfrm>
            <a:off x="777240" y="4800600"/>
            <a:ext cx="5348880" cy="1234080"/>
          </a:xfrm>
          <a:prstGeom prst="roundRect">
            <a:avLst>
              <a:gd name="adj" fmla="val 8000"/>
            </a:avLst>
          </a:prstGeom>
          <a:solidFill>
            <a:srgbClr val="f2b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Publikasi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100" b="0" u="none" strike="noStrike">
                <a:solidFill>
                  <a:srgbClr val="e0ecf6"/>
                </a:solidFill>
                <a:effectLst/>
                <a:uFillTx/>
                <a:latin typeface="Segoe UI"/>
              </a:rPr>
              <a:t>Unduhan publik dengan otorisasi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Rounded Rectangle 13"/>
          <p:cNvSpPr/>
          <p:nvPr/>
        </p:nvSpPr>
        <p:spPr>
          <a:xfrm>
            <a:off x="6446520" y="4800600"/>
            <a:ext cx="5348880" cy="1234080"/>
          </a:xfrm>
          <a:prstGeom prst="roundRect">
            <a:avLst>
              <a:gd name="adj" fmla="val 8000"/>
            </a:avLst>
          </a:prstGeom>
          <a:solidFill>
            <a:srgbClr val="0b2e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Versi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100" b="0" u="none" strike="noStrike">
                <a:solidFill>
                  <a:srgbClr val="e0ecf6"/>
                </a:solidFill>
                <a:effectLst/>
                <a:uFillTx/>
                <a:latin typeface="Segoe UI"/>
              </a:rPr>
              <a:t>Riwayat &amp; versi baru laporan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Rectangle 14"/>
          <p:cNvSpPr/>
          <p:nvPr/>
        </p:nvSpPr>
        <p:spPr>
          <a:xfrm>
            <a:off x="502920" y="6473880"/>
            <a:ext cx="11155320" cy="18000"/>
          </a:xfrm>
          <a:prstGeom prst="rect">
            <a:avLst/>
          </a:prstGeom>
          <a:solidFill>
            <a:srgbClr val="dce6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1" name="TextBox 15"/>
          <p:cNvSpPr/>
          <p:nvPr/>
        </p:nvSpPr>
        <p:spPr>
          <a:xfrm>
            <a:off x="502920" y="6537960"/>
            <a:ext cx="7314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u="none" strike="noStrike">
                <a:solidFill>
                  <a:srgbClr val="5a6a7a"/>
                </a:solidFill>
                <a:effectLst/>
                <a:uFillTx/>
                <a:latin typeface="Segoe UI"/>
              </a:rPr>
              <a:t>Kepatuhan &amp; Laporan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Box 16"/>
          <p:cNvSpPr/>
          <p:nvPr/>
        </p:nvSpPr>
        <p:spPr>
          <a:xfrm>
            <a:off x="10789920" y="6537960"/>
            <a:ext cx="868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15000"/>
              </a:lnSpc>
            </a:pPr>
            <a:r>
              <a:rPr lang="en-US" sz="900" b="0" u="none" strike="noStrike">
                <a:solidFill>
                  <a:srgbClr val="5a6a7a"/>
                </a:solidFill>
                <a:effectLst/>
                <a:uFillTx/>
                <a:latin typeface="Segoe UI"/>
              </a:rPr>
              <a:t>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Rectangle 1"/>
          <p:cNvSpPr/>
          <p:nvPr/>
        </p:nvSpPr>
        <p:spPr>
          <a:xfrm>
            <a:off x="0" y="0"/>
            <a:ext cx="182520" cy="6857640"/>
          </a:xfrm>
          <a:prstGeom prst="rect">
            <a:avLst/>
          </a:prstGeom>
          <a:solidFill>
            <a:srgbClr val="0b2e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4" name="Rectangle 2"/>
          <p:cNvSpPr/>
          <p:nvPr/>
        </p:nvSpPr>
        <p:spPr>
          <a:xfrm>
            <a:off x="502920" y="320040"/>
            <a:ext cx="82080" cy="548280"/>
          </a:xfrm>
          <a:prstGeom prst="rect">
            <a:avLst/>
          </a:prstGeom>
          <a:solidFill>
            <a:srgbClr val="f2b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5" name="TextBox 3"/>
          <p:cNvSpPr/>
          <p:nvPr/>
        </p:nvSpPr>
        <p:spPr>
          <a:xfrm>
            <a:off x="749880" y="27432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800" b="1" u="none" strike="noStrike">
                <a:solidFill>
                  <a:srgbClr val="0b2e4f"/>
                </a:solidFill>
                <a:effectLst/>
                <a:uFillTx/>
                <a:latin typeface="Segoe UI"/>
              </a:rPr>
              <a:t>Otomatisasi &amp; Backup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Box 4"/>
          <p:cNvSpPr/>
          <p:nvPr/>
        </p:nvSpPr>
        <p:spPr>
          <a:xfrm>
            <a:off x="777240" y="914400"/>
            <a:ext cx="10606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300" b="0" u="none" strike="noStrike">
                <a:solidFill>
                  <a:srgbClr val="5a6a7a"/>
                </a:solidFill>
                <a:effectLst/>
                <a:uFillTx/>
                <a:latin typeface="Segoe UI"/>
              </a:rPr>
              <a:t>Pekerjaan berjalan di latar belakang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Rectangle 5"/>
          <p:cNvSpPr/>
          <p:nvPr/>
        </p:nvSpPr>
        <p:spPr>
          <a:xfrm>
            <a:off x="502920" y="1417320"/>
            <a:ext cx="11155320" cy="18000"/>
          </a:xfrm>
          <a:prstGeom prst="rect">
            <a:avLst/>
          </a:prstGeom>
          <a:solidFill>
            <a:srgbClr val="dce6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8" name="TextBox 6"/>
          <p:cNvSpPr/>
          <p:nvPr/>
        </p:nvSpPr>
        <p:spPr>
          <a:xfrm>
            <a:off x="777240" y="178308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600" b="1" u="none" strike="noStrike">
                <a:solidFill>
                  <a:srgbClr val="0b2e4f"/>
                </a:solidFill>
                <a:effectLst/>
                <a:uFillTx/>
                <a:latin typeface="Segoe UI"/>
              </a:rPr>
              <a:t>Jadwal Mingguan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Rounded Rectangle 7"/>
          <p:cNvSpPr/>
          <p:nvPr/>
        </p:nvSpPr>
        <p:spPr>
          <a:xfrm>
            <a:off x="777240" y="2240280"/>
            <a:ext cx="4845960" cy="1371240"/>
          </a:xfrm>
          <a:prstGeom prst="roundRect">
            <a:avLst>
              <a:gd name="adj" fmla="val 8000"/>
            </a:avLst>
          </a:prstGeom>
          <a:solidFill>
            <a:srgbClr val="1b9e9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report:weekly-summary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200" b="0" u="none" strike="noStrike">
                <a:solidFill>
                  <a:srgbClr val="e0ecf6"/>
                </a:solidFill>
                <a:effectLst/>
                <a:uFillTx/>
                <a:latin typeface="Segoe UI"/>
              </a:rPr>
              <a:t>Senin 08:00 WIB — email ringkasan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Rounded Rectangle 8"/>
          <p:cNvSpPr/>
          <p:nvPr/>
        </p:nvSpPr>
        <p:spPr>
          <a:xfrm>
            <a:off x="777240" y="3794760"/>
            <a:ext cx="4845960" cy="1371240"/>
          </a:xfrm>
          <a:prstGeom prst="roundRect">
            <a:avLst>
              <a:gd name="adj" fmla="val 8000"/>
            </a:avLst>
          </a:prstGeom>
          <a:solidFill>
            <a:srgbClr val="1e6fc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audit:archive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200" b="0" u="none" strike="noStrike">
                <a:solidFill>
                  <a:srgbClr val="e0ecf6"/>
                </a:solidFill>
                <a:effectLst/>
                <a:uFillTx/>
                <a:latin typeface="Segoe UI"/>
              </a:rPr>
              <a:t>Arsip log &gt; 90 hari ke JSON.gz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Rounded Rectangle 9"/>
          <p:cNvSpPr/>
          <p:nvPr/>
        </p:nvSpPr>
        <p:spPr>
          <a:xfrm>
            <a:off x="6309360" y="1828800"/>
            <a:ext cx="5348880" cy="959760"/>
          </a:xfrm>
          <a:prstGeom prst="roundRect">
            <a:avLst>
              <a:gd name="adj" fmla="val 8000"/>
            </a:avLst>
          </a:prstGeom>
          <a:solidFill>
            <a:srgbClr val="1e6fc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Arsip Log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100" b="0" u="none" strike="noStrike">
                <a:solidFill>
                  <a:srgbClr val="e0ecf6"/>
                </a:solidFill>
                <a:effectLst/>
                <a:uFillTx/>
                <a:latin typeface="Segoe UI"/>
              </a:rPr>
              <a:t>Log lama dipadatkan &amp; dibersihkan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Rounded Rectangle 10"/>
          <p:cNvSpPr/>
          <p:nvPr/>
        </p:nvSpPr>
        <p:spPr>
          <a:xfrm>
            <a:off x="6309360" y="2990160"/>
            <a:ext cx="5348880" cy="959760"/>
          </a:xfrm>
          <a:prstGeom prst="roundRect">
            <a:avLst>
              <a:gd name="adj" fmla="val 8000"/>
            </a:avLst>
          </a:prstGeom>
          <a:solidFill>
            <a:srgbClr val="1b9e9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Ringkasan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100" b="0" u="none" strike="noStrike">
                <a:solidFill>
                  <a:srgbClr val="e0ecf6"/>
                </a:solidFill>
                <a:effectLst/>
                <a:uFillTx/>
                <a:latin typeface="Segoe UI"/>
              </a:rPr>
              <a:t>Login, gagal, log, sesi via email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Rounded Rectangle 11"/>
          <p:cNvSpPr/>
          <p:nvPr/>
        </p:nvSpPr>
        <p:spPr>
          <a:xfrm>
            <a:off x="6309360" y="4151520"/>
            <a:ext cx="5348880" cy="959760"/>
          </a:xfrm>
          <a:prstGeom prst="roundRect">
            <a:avLst>
              <a:gd name="adj" fmla="val 8000"/>
            </a:avLst>
          </a:prstGeom>
          <a:solidFill>
            <a:srgbClr val="f2b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Backup DB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100" b="0" u="none" strike="noStrike">
                <a:solidFill>
                  <a:srgbClr val="e0ecf6"/>
                </a:solidFill>
                <a:effectLst/>
                <a:uFillTx/>
                <a:latin typeface="Segoe UI"/>
              </a:rPr>
              <a:t>Salinan SQLite berstempel waktu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Rounded Rectangle 12"/>
          <p:cNvSpPr/>
          <p:nvPr/>
        </p:nvSpPr>
        <p:spPr>
          <a:xfrm>
            <a:off x="6309360" y="5312520"/>
            <a:ext cx="5348880" cy="959760"/>
          </a:xfrm>
          <a:prstGeom prst="roundRect">
            <a:avLst>
              <a:gd name="adj" fmla="val 8000"/>
            </a:avLst>
          </a:prstGeom>
          <a:solidFill>
            <a:srgbClr val="0b2e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Cache &amp; Maintenance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100" b="0" u="none" strike="noStrike">
                <a:solidFill>
                  <a:srgbClr val="e0ecf6"/>
                </a:solidFill>
                <a:effectLst/>
                <a:uFillTx/>
                <a:latin typeface="Segoe UI"/>
              </a:rPr>
              <a:t>Bersihkan cache, mode pemeliharaan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Rectangle 13"/>
          <p:cNvSpPr/>
          <p:nvPr/>
        </p:nvSpPr>
        <p:spPr>
          <a:xfrm>
            <a:off x="502920" y="6473880"/>
            <a:ext cx="11155320" cy="18000"/>
          </a:xfrm>
          <a:prstGeom prst="rect">
            <a:avLst/>
          </a:prstGeom>
          <a:solidFill>
            <a:srgbClr val="dce6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6" name="TextBox 14"/>
          <p:cNvSpPr/>
          <p:nvPr/>
        </p:nvSpPr>
        <p:spPr>
          <a:xfrm>
            <a:off x="502920" y="6537960"/>
            <a:ext cx="7314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u="none" strike="noStrike">
                <a:solidFill>
                  <a:srgbClr val="5a6a7a"/>
                </a:solidFill>
                <a:effectLst/>
                <a:uFillTx/>
                <a:latin typeface="Segoe UI"/>
              </a:rPr>
              <a:t>Otomatisasi &amp; Backup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Box 15"/>
          <p:cNvSpPr/>
          <p:nvPr/>
        </p:nvSpPr>
        <p:spPr>
          <a:xfrm>
            <a:off x="10789920" y="6537960"/>
            <a:ext cx="868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15000"/>
              </a:lnSpc>
            </a:pPr>
            <a:r>
              <a:rPr lang="en-US" sz="900" b="0" u="none" strike="noStrike">
                <a:solidFill>
                  <a:srgbClr val="5a6a7a"/>
                </a:solidFill>
                <a:effectLst/>
                <a:uFillTx/>
                <a:latin typeface="Segoe UI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Rectangle 1"/>
          <p:cNvSpPr/>
          <p:nvPr/>
        </p:nvSpPr>
        <p:spPr>
          <a:xfrm>
            <a:off x="0" y="0"/>
            <a:ext cx="182520" cy="6857640"/>
          </a:xfrm>
          <a:prstGeom prst="rect">
            <a:avLst/>
          </a:prstGeom>
          <a:solidFill>
            <a:srgbClr val="0b2e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9" name="Rectangle 2"/>
          <p:cNvSpPr/>
          <p:nvPr/>
        </p:nvSpPr>
        <p:spPr>
          <a:xfrm>
            <a:off x="502920" y="320040"/>
            <a:ext cx="82080" cy="548280"/>
          </a:xfrm>
          <a:prstGeom prst="rect">
            <a:avLst/>
          </a:prstGeom>
          <a:solidFill>
            <a:srgbClr val="f2b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0" name="TextBox 3"/>
          <p:cNvSpPr/>
          <p:nvPr/>
        </p:nvSpPr>
        <p:spPr>
          <a:xfrm>
            <a:off x="749880" y="27432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800" b="1" u="none" strike="noStrike">
                <a:solidFill>
                  <a:srgbClr val="0b2e4f"/>
                </a:solidFill>
                <a:effectLst/>
                <a:uFillTx/>
                <a:latin typeface="Segoe UI"/>
              </a:rPr>
              <a:t>Model Data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Box 4"/>
          <p:cNvSpPr/>
          <p:nvPr/>
        </p:nvSpPr>
        <p:spPr>
          <a:xfrm>
            <a:off x="777240" y="914400"/>
            <a:ext cx="10606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300" b="0" u="none" strike="noStrike">
                <a:solidFill>
                  <a:srgbClr val="5a6a7a"/>
                </a:solidFill>
                <a:effectLst/>
                <a:uFillTx/>
                <a:latin typeface="Segoe UI"/>
              </a:rPr>
              <a:t>Tabel inti yang menggerakkan aplikasi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Rectangle 5"/>
          <p:cNvSpPr/>
          <p:nvPr/>
        </p:nvSpPr>
        <p:spPr>
          <a:xfrm>
            <a:off x="502920" y="1417320"/>
            <a:ext cx="11155320" cy="18000"/>
          </a:xfrm>
          <a:prstGeom prst="rect">
            <a:avLst/>
          </a:prstGeom>
          <a:solidFill>
            <a:srgbClr val="dce6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3" name="Rounded Rectangle 6"/>
          <p:cNvSpPr/>
          <p:nvPr/>
        </p:nvSpPr>
        <p:spPr>
          <a:xfrm>
            <a:off x="777240" y="1920240"/>
            <a:ext cx="3382920" cy="1142640"/>
          </a:xfrm>
          <a:prstGeom prst="roundRect">
            <a:avLst>
              <a:gd name="adj" fmla="val 8000"/>
            </a:avLst>
          </a:prstGeom>
          <a:solidFill>
            <a:srgbClr val="e7f1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b2e4f"/>
                </a:solidFill>
                <a:effectLst/>
                <a:uFillTx/>
                <a:latin typeface="Segoe UI"/>
              </a:rPr>
              <a:t>AuditLog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100" b="0" u="none" strike="noStrike">
                <a:solidFill>
                  <a:srgbClr val="5a6a7a"/>
                </a:solidFill>
                <a:effectLst/>
                <a:uFillTx/>
                <a:latin typeface="Segoe UI"/>
              </a:rPr>
              <a:t>Jejak audit + hash chain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Rectangle 7"/>
          <p:cNvSpPr/>
          <p:nvPr/>
        </p:nvSpPr>
        <p:spPr>
          <a:xfrm>
            <a:off x="777240" y="1920240"/>
            <a:ext cx="54360" cy="1142640"/>
          </a:xfrm>
          <a:prstGeom prst="rect">
            <a:avLst/>
          </a:prstGeom>
          <a:solidFill>
            <a:srgbClr val="1e6fc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5" name="Rounded Rectangle 8"/>
          <p:cNvSpPr/>
          <p:nvPr/>
        </p:nvSpPr>
        <p:spPr>
          <a:xfrm>
            <a:off x="4480560" y="1920240"/>
            <a:ext cx="3382920" cy="1142640"/>
          </a:xfrm>
          <a:prstGeom prst="roundRect">
            <a:avLst>
              <a:gd name="adj" fmla="val 8000"/>
            </a:avLst>
          </a:prstGeom>
          <a:solidFill>
            <a:srgbClr val="e7f1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b2e4f"/>
                </a:solidFill>
                <a:effectLst/>
                <a:uFillTx/>
                <a:latin typeface="Segoe UI"/>
              </a:rPr>
              <a:t>ComplianceReport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100" b="0" u="none" strike="noStrike">
                <a:solidFill>
                  <a:srgbClr val="5a6a7a"/>
                </a:solidFill>
                <a:effectLst/>
                <a:uFillTx/>
                <a:latin typeface="Segoe UI"/>
              </a:rPr>
              <a:t>Dokumen kepatuhan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Rectangle 9"/>
          <p:cNvSpPr/>
          <p:nvPr/>
        </p:nvSpPr>
        <p:spPr>
          <a:xfrm>
            <a:off x="4480560" y="1920240"/>
            <a:ext cx="54360" cy="1142640"/>
          </a:xfrm>
          <a:prstGeom prst="rect">
            <a:avLst/>
          </a:prstGeom>
          <a:solidFill>
            <a:srgbClr val="1b9e9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7" name="Rounded Rectangle 10"/>
          <p:cNvSpPr/>
          <p:nvPr/>
        </p:nvSpPr>
        <p:spPr>
          <a:xfrm>
            <a:off x="8183880" y="1920240"/>
            <a:ext cx="3382920" cy="1142640"/>
          </a:xfrm>
          <a:prstGeom prst="roundRect">
            <a:avLst>
              <a:gd name="adj" fmla="val 8000"/>
            </a:avLst>
          </a:prstGeom>
          <a:solidFill>
            <a:srgbClr val="e7f1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b2e4f"/>
                </a:solidFill>
                <a:effectLst/>
                <a:uFillTx/>
                <a:latin typeface="Segoe UI"/>
              </a:rPr>
              <a:t>Berita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100" b="0" u="none" strike="noStrike">
                <a:solidFill>
                  <a:srgbClr val="5a6a7a"/>
                </a:solidFill>
                <a:effectLst/>
                <a:uFillTx/>
                <a:latin typeface="Segoe UI"/>
              </a:rPr>
              <a:t>Artikel &amp; berita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Rectangle 11"/>
          <p:cNvSpPr/>
          <p:nvPr/>
        </p:nvSpPr>
        <p:spPr>
          <a:xfrm>
            <a:off x="8183880" y="1920240"/>
            <a:ext cx="54360" cy="1142640"/>
          </a:xfrm>
          <a:prstGeom prst="rect">
            <a:avLst/>
          </a:prstGeom>
          <a:solidFill>
            <a:srgbClr val="4a9f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9" name="Rounded Rectangle 12"/>
          <p:cNvSpPr/>
          <p:nvPr/>
        </p:nvSpPr>
        <p:spPr>
          <a:xfrm>
            <a:off x="777240" y="3337560"/>
            <a:ext cx="3382920" cy="1142640"/>
          </a:xfrm>
          <a:prstGeom prst="roundRect">
            <a:avLst>
              <a:gd name="adj" fmla="val 8000"/>
            </a:avLst>
          </a:prstGeom>
          <a:solidFill>
            <a:srgbClr val="e7f1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b2e4f"/>
                </a:solidFill>
                <a:effectLst/>
                <a:uFillTx/>
                <a:latin typeface="Segoe UI"/>
              </a:rPr>
              <a:t>Laporan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100" b="0" u="none" strike="noStrike">
                <a:solidFill>
                  <a:srgbClr val="5a6a7a"/>
                </a:solidFill>
                <a:effectLst/>
                <a:uFillTx/>
                <a:latin typeface="Segoe UI"/>
              </a:rPr>
              <a:t>Laporan publikasi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Rectangle 13"/>
          <p:cNvSpPr/>
          <p:nvPr/>
        </p:nvSpPr>
        <p:spPr>
          <a:xfrm>
            <a:off x="777240" y="3337560"/>
            <a:ext cx="54360" cy="1142640"/>
          </a:xfrm>
          <a:prstGeom prst="rect">
            <a:avLst/>
          </a:prstGeom>
          <a:solidFill>
            <a:srgbClr val="f2b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1" name="Rounded Rectangle 14"/>
          <p:cNvSpPr/>
          <p:nvPr/>
        </p:nvSpPr>
        <p:spPr>
          <a:xfrm>
            <a:off x="4480560" y="3337560"/>
            <a:ext cx="3382920" cy="1142640"/>
          </a:xfrm>
          <a:prstGeom prst="roundRect">
            <a:avLst>
              <a:gd name="adj" fmla="val 8000"/>
            </a:avLst>
          </a:prstGeom>
          <a:solidFill>
            <a:srgbClr val="e7f1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b2e4f"/>
                </a:solidFill>
                <a:effectLst/>
                <a:uFillTx/>
                <a:latin typeface="Segoe UI"/>
              </a:rPr>
              <a:t>SupportTicket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100" b="0" u="none" strike="noStrike">
                <a:solidFill>
                  <a:srgbClr val="5a6a7a"/>
                </a:solidFill>
                <a:effectLst/>
                <a:uFillTx/>
                <a:latin typeface="Segoe UI"/>
              </a:rPr>
              <a:t>Tiket bantuan &amp; WBS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Rectangle 15"/>
          <p:cNvSpPr/>
          <p:nvPr/>
        </p:nvSpPr>
        <p:spPr>
          <a:xfrm>
            <a:off x="4480560" y="3337560"/>
            <a:ext cx="54360" cy="1142640"/>
          </a:xfrm>
          <a:prstGeom prst="rect">
            <a:avLst/>
          </a:prstGeom>
          <a:solidFill>
            <a:srgbClr val="0b2e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3" name="Rounded Rectangle 16"/>
          <p:cNvSpPr/>
          <p:nvPr/>
        </p:nvSpPr>
        <p:spPr>
          <a:xfrm>
            <a:off x="8183880" y="3337560"/>
            <a:ext cx="3382920" cy="1142640"/>
          </a:xfrm>
          <a:prstGeom prst="roundRect">
            <a:avLst>
              <a:gd name="adj" fmla="val 8000"/>
            </a:avLst>
          </a:prstGeom>
          <a:solidFill>
            <a:srgbClr val="e7f1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b2e4f"/>
                </a:solidFill>
                <a:effectLst/>
                <a:uFillTx/>
                <a:latin typeface="Segoe UI"/>
              </a:rPr>
              <a:t>ProductApplication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100" b="0" u="none" strike="noStrike">
                <a:solidFill>
                  <a:srgbClr val="5a6a7a"/>
                </a:solidFill>
                <a:effectLst/>
                <a:uFillTx/>
                <a:latin typeface="Segoe UI"/>
              </a:rPr>
              <a:t>Pengajuan kredit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Rectangle 17"/>
          <p:cNvSpPr/>
          <p:nvPr/>
        </p:nvSpPr>
        <p:spPr>
          <a:xfrm>
            <a:off x="8183880" y="3337560"/>
            <a:ext cx="54360" cy="1142640"/>
          </a:xfrm>
          <a:prstGeom prst="rect">
            <a:avLst/>
          </a:prstGeom>
          <a:solidFill>
            <a:srgbClr val="2fa45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5" name="Rounded Rectangle 18"/>
          <p:cNvSpPr/>
          <p:nvPr/>
        </p:nvSpPr>
        <p:spPr>
          <a:xfrm>
            <a:off x="777240" y="4754880"/>
            <a:ext cx="3382920" cy="1142640"/>
          </a:xfrm>
          <a:prstGeom prst="roundRect">
            <a:avLst>
              <a:gd name="adj" fmla="val 8000"/>
            </a:avLst>
          </a:prstGeom>
          <a:solidFill>
            <a:srgbClr val="e7f1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b2e4f"/>
                </a:solidFill>
                <a:effectLst/>
                <a:uFillTx/>
                <a:latin typeface="Segoe UI"/>
              </a:rPr>
              <a:t>Badge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100" b="0" u="none" strike="noStrike">
                <a:solidFill>
                  <a:srgbClr val="5a6a7a"/>
                </a:solidFill>
                <a:effectLst/>
                <a:uFillTx/>
                <a:latin typeface="Segoe UI"/>
              </a:rPr>
              <a:t>Sertifikasi &amp; penghargaan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Rectangle 19"/>
          <p:cNvSpPr/>
          <p:nvPr/>
        </p:nvSpPr>
        <p:spPr>
          <a:xfrm>
            <a:off x="777240" y="4754880"/>
            <a:ext cx="54360" cy="1142640"/>
          </a:xfrm>
          <a:prstGeom prst="rect">
            <a:avLst/>
          </a:prstGeom>
          <a:solidFill>
            <a:srgbClr val="1e6fc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7" name="Rounded Rectangle 20"/>
          <p:cNvSpPr/>
          <p:nvPr/>
        </p:nvSpPr>
        <p:spPr>
          <a:xfrm>
            <a:off x="4480560" y="4754880"/>
            <a:ext cx="3382920" cy="1142640"/>
          </a:xfrm>
          <a:prstGeom prst="roundRect">
            <a:avLst>
              <a:gd name="adj" fmla="val 8000"/>
            </a:avLst>
          </a:prstGeom>
          <a:solidFill>
            <a:srgbClr val="e7f1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b2e4f"/>
                </a:solidFill>
                <a:effectLst/>
                <a:uFillTx/>
                <a:latin typeface="Segoe UI"/>
              </a:rPr>
              <a:t>Setting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100" b="0" u="none" strike="noStrike">
                <a:solidFill>
                  <a:srgbClr val="5a6a7a"/>
                </a:solidFill>
                <a:effectLst/>
                <a:uFillTx/>
                <a:latin typeface="Segoe UI"/>
              </a:rPr>
              <a:t>Konfigurasi aplikasi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Rectangle 21"/>
          <p:cNvSpPr/>
          <p:nvPr/>
        </p:nvSpPr>
        <p:spPr>
          <a:xfrm>
            <a:off x="4480560" y="4754880"/>
            <a:ext cx="54360" cy="1142640"/>
          </a:xfrm>
          <a:prstGeom prst="rect">
            <a:avLst/>
          </a:prstGeom>
          <a:solidFill>
            <a:srgbClr val="1b9e9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9" name="Rounded Rectangle 22"/>
          <p:cNvSpPr/>
          <p:nvPr/>
        </p:nvSpPr>
        <p:spPr>
          <a:xfrm>
            <a:off x="8183880" y="4754880"/>
            <a:ext cx="3382920" cy="1142640"/>
          </a:xfrm>
          <a:prstGeom prst="roundRect">
            <a:avLst>
              <a:gd name="adj" fmla="val 8000"/>
            </a:avLst>
          </a:prstGeom>
          <a:solidFill>
            <a:srgbClr val="e7f1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b2e4f"/>
                </a:solidFill>
                <a:effectLst/>
                <a:uFillTx/>
                <a:latin typeface="Segoe UI"/>
              </a:rPr>
              <a:t>Admin / User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100" b="0" u="none" strike="noStrike">
                <a:solidFill>
                  <a:srgbClr val="5a6a7a"/>
                </a:solidFill>
                <a:effectLst/>
                <a:uFillTx/>
                <a:latin typeface="Segoe UI"/>
              </a:rPr>
              <a:t>Identitas masuk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Rectangle 23"/>
          <p:cNvSpPr/>
          <p:nvPr/>
        </p:nvSpPr>
        <p:spPr>
          <a:xfrm>
            <a:off x="8183880" y="4754880"/>
            <a:ext cx="54360" cy="1142640"/>
          </a:xfrm>
          <a:prstGeom prst="rect">
            <a:avLst/>
          </a:prstGeom>
          <a:solidFill>
            <a:srgbClr val="5a6a7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1" name="Rectangle 24"/>
          <p:cNvSpPr/>
          <p:nvPr/>
        </p:nvSpPr>
        <p:spPr>
          <a:xfrm>
            <a:off x="502920" y="6473880"/>
            <a:ext cx="11155320" cy="18000"/>
          </a:xfrm>
          <a:prstGeom prst="rect">
            <a:avLst/>
          </a:prstGeom>
          <a:solidFill>
            <a:srgbClr val="dce6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2" name="TextBox 25"/>
          <p:cNvSpPr/>
          <p:nvPr/>
        </p:nvSpPr>
        <p:spPr>
          <a:xfrm>
            <a:off x="502920" y="6537960"/>
            <a:ext cx="7314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u="none" strike="noStrike">
                <a:solidFill>
                  <a:srgbClr val="5a6a7a"/>
                </a:solidFill>
                <a:effectLst/>
                <a:uFillTx/>
                <a:latin typeface="Segoe UI"/>
              </a:rPr>
              <a:t>Model Data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26"/>
          <p:cNvSpPr/>
          <p:nvPr/>
        </p:nvSpPr>
        <p:spPr>
          <a:xfrm>
            <a:off x="10789920" y="6537960"/>
            <a:ext cx="868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15000"/>
              </a:lnSpc>
            </a:pPr>
            <a:r>
              <a:rPr lang="en-US" sz="900" b="0" u="none" strike="noStrike">
                <a:solidFill>
                  <a:srgbClr val="5a6a7a"/>
                </a:solidFill>
                <a:effectLst/>
                <a:uFillTx/>
                <a:latin typeface="Segoe UI"/>
              </a:rPr>
              <a:t>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Rectangle 1"/>
          <p:cNvSpPr/>
          <p:nvPr/>
        </p:nvSpPr>
        <p:spPr>
          <a:xfrm>
            <a:off x="0" y="0"/>
            <a:ext cx="182520" cy="6857640"/>
          </a:xfrm>
          <a:prstGeom prst="rect">
            <a:avLst/>
          </a:prstGeom>
          <a:solidFill>
            <a:srgbClr val="0b2e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5" name="Rectangle 2"/>
          <p:cNvSpPr/>
          <p:nvPr/>
        </p:nvSpPr>
        <p:spPr>
          <a:xfrm>
            <a:off x="502920" y="320040"/>
            <a:ext cx="82080" cy="548280"/>
          </a:xfrm>
          <a:prstGeom prst="rect">
            <a:avLst/>
          </a:prstGeom>
          <a:solidFill>
            <a:srgbClr val="f2b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6" name="TextBox 3"/>
          <p:cNvSpPr/>
          <p:nvPr/>
        </p:nvSpPr>
        <p:spPr>
          <a:xfrm>
            <a:off x="749880" y="27432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800" b="1" u="none" strike="noStrike">
                <a:solidFill>
                  <a:srgbClr val="0b2e4f"/>
                </a:solidFill>
                <a:effectLst/>
                <a:uFillTx/>
                <a:latin typeface="Segoe UI"/>
              </a:rPr>
              <a:t>Ringkasan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Box 4"/>
          <p:cNvSpPr/>
          <p:nvPr/>
        </p:nvSpPr>
        <p:spPr>
          <a:xfrm>
            <a:off x="777240" y="914400"/>
            <a:ext cx="10606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300" b="0" u="none" strike="noStrike">
                <a:solidFill>
                  <a:srgbClr val="5a6a7a"/>
                </a:solidFill>
                <a:effectLst/>
                <a:uFillTx/>
                <a:latin typeface="Segoe UI"/>
              </a:rPr>
              <a:t>Yang perlu diingat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Rectangle 5"/>
          <p:cNvSpPr/>
          <p:nvPr/>
        </p:nvSpPr>
        <p:spPr>
          <a:xfrm>
            <a:off x="502920" y="1417320"/>
            <a:ext cx="11155320" cy="18000"/>
          </a:xfrm>
          <a:prstGeom prst="rect">
            <a:avLst/>
          </a:prstGeom>
          <a:solidFill>
            <a:srgbClr val="dce6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9" name="Rounded Rectangle 6"/>
          <p:cNvSpPr/>
          <p:nvPr/>
        </p:nvSpPr>
        <p:spPr>
          <a:xfrm>
            <a:off x="777240" y="1920240"/>
            <a:ext cx="5348880" cy="1371240"/>
          </a:xfrm>
          <a:prstGeom prst="roundRect">
            <a:avLst>
              <a:gd name="adj" fmla="val 8000"/>
            </a:avLst>
          </a:prstGeom>
          <a:solidFill>
            <a:srgbClr val="1e6fc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Satu Aplikasi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200" b="0" u="none" strike="noStrike">
                <a:solidFill>
                  <a:srgbClr val="e0ecf6"/>
                </a:solidFill>
                <a:effectLst/>
                <a:uFillTx/>
                <a:latin typeface="Segoe UI"/>
              </a:rPr>
              <a:t>Publik + Admin dalam 1 platform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Rounded Rectangle 7"/>
          <p:cNvSpPr/>
          <p:nvPr/>
        </p:nvSpPr>
        <p:spPr>
          <a:xfrm>
            <a:off x="6446520" y="1920240"/>
            <a:ext cx="5348880" cy="1371240"/>
          </a:xfrm>
          <a:prstGeom prst="roundRect">
            <a:avLst>
              <a:gd name="adj" fmla="val 8000"/>
            </a:avLst>
          </a:prstGeom>
          <a:solidFill>
            <a:srgbClr val="1b9e9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Laravel 13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200" b="0" u="none" strike="noStrike">
                <a:solidFill>
                  <a:srgbClr val="e0ecf6"/>
                </a:solidFill>
                <a:effectLst/>
                <a:uFillTx/>
                <a:latin typeface="Segoe UI"/>
              </a:rPr>
              <a:t>Modern, rapi &amp; terstruktur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Rounded Rectangle 8"/>
          <p:cNvSpPr/>
          <p:nvPr/>
        </p:nvSpPr>
        <p:spPr>
          <a:xfrm>
            <a:off x="777240" y="3611880"/>
            <a:ext cx="5348880" cy="1371240"/>
          </a:xfrm>
          <a:prstGeom prst="roundRect">
            <a:avLst>
              <a:gd name="adj" fmla="val 8000"/>
            </a:avLst>
          </a:prstGeom>
          <a:solidFill>
            <a:srgbClr val="f2b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Rantai Audit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200" b="0" u="none" strike="noStrike">
                <a:solidFill>
                  <a:srgbClr val="e0ecf6"/>
                </a:solidFill>
                <a:effectLst/>
                <a:uFillTx/>
                <a:latin typeface="Segoe UI"/>
              </a:rPr>
              <a:t>Jejak tak bisa diubah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Rounded Rectangle 9"/>
          <p:cNvSpPr/>
          <p:nvPr/>
        </p:nvSpPr>
        <p:spPr>
          <a:xfrm>
            <a:off x="6446520" y="3611880"/>
            <a:ext cx="5348880" cy="1371240"/>
          </a:xfrm>
          <a:prstGeom prst="roundRect">
            <a:avLst>
              <a:gd name="adj" fmla="val 8000"/>
            </a:avLst>
          </a:prstGeom>
          <a:solidFill>
            <a:srgbClr val="0b2e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1098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Otomatis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300"/>
              </a:spcBef>
            </a:pPr>
            <a:r>
              <a:rPr lang="en-US" sz="1200" b="0" u="none" strike="noStrike">
                <a:solidFill>
                  <a:srgbClr val="e0ecf6"/>
                </a:solidFill>
                <a:effectLst/>
                <a:uFillTx/>
                <a:latin typeface="Segoe UI"/>
              </a:rPr>
              <a:t>Arsip, ringkasan, backup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Rounded Rectangle 10"/>
          <p:cNvSpPr/>
          <p:nvPr/>
        </p:nvSpPr>
        <p:spPr>
          <a:xfrm>
            <a:off x="777240" y="5212080"/>
            <a:ext cx="10606680" cy="731160"/>
          </a:xfrm>
          <a:prstGeom prst="roundRect">
            <a:avLst>
              <a:gd name="adj" fmla="val 8000"/>
            </a:avLst>
          </a:prstGeom>
          <a:solidFill>
            <a:srgbClr val="f5f8fb"/>
          </a:solidFill>
          <a:ln w="12700">
            <a:solidFill>
              <a:srgbClr val="dce6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4" name="TextBox 11"/>
          <p:cNvSpPr/>
          <p:nvPr/>
        </p:nvSpPr>
        <p:spPr>
          <a:xfrm>
            <a:off x="1005840" y="5321880"/>
            <a:ext cx="10058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15000"/>
              </a:lnSpc>
            </a:pPr>
            <a:r>
              <a:rPr lang="en-US" sz="1600" b="1" u="none" strike="noStrike">
                <a:solidFill>
                  <a:srgbClr val="0b2e4f"/>
                </a:solidFill>
                <a:effectLst/>
                <a:uFillTx/>
                <a:latin typeface="Segoe UI"/>
              </a:rPr>
              <a:t>Aman  •  Transparan  •  Terpercaya  —  Misinya melayani masyarakat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Rectangle 12"/>
          <p:cNvSpPr/>
          <p:nvPr/>
        </p:nvSpPr>
        <p:spPr>
          <a:xfrm>
            <a:off x="502920" y="6473880"/>
            <a:ext cx="11155320" cy="18000"/>
          </a:xfrm>
          <a:prstGeom prst="rect">
            <a:avLst/>
          </a:prstGeom>
          <a:solidFill>
            <a:srgbClr val="dce6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6" name="TextBox 13"/>
          <p:cNvSpPr/>
          <p:nvPr/>
        </p:nvSpPr>
        <p:spPr>
          <a:xfrm>
            <a:off x="502920" y="6537960"/>
            <a:ext cx="7314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900" b="0" u="none" strike="noStrike">
                <a:solidFill>
                  <a:srgbClr val="5a6a7a"/>
                </a:solidFill>
                <a:effectLst/>
                <a:uFillTx/>
                <a:latin typeface="Segoe UI"/>
              </a:rPr>
              <a:t>Ringkasan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Box 14"/>
          <p:cNvSpPr/>
          <p:nvPr/>
        </p:nvSpPr>
        <p:spPr>
          <a:xfrm>
            <a:off x="10789920" y="6537960"/>
            <a:ext cx="868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15000"/>
              </a:lnSpc>
            </a:pPr>
            <a:r>
              <a:rPr lang="en-US" sz="900" b="0" u="none" strike="noStrike">
                <a:solidFill>
                  <a:srgbClr val="5a6a7a"/>
                </a:solidFill>
                <a:effectLst/>
                <a:uFillTx/>
                <a:latin typeface="Segoe UI"/>
              </a:rPr>
              <a:t>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2e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9" name="Rounded Rectangle 2"/>
          <p:cNvSpPr/>
          <p:nvPr/>
        </p:nvSpPr>
        <p:spPr>
          <a:xfrm>
            <a:off x="8595360" y="-1097280"/>
            <a:ext cx="5486040" cy="5486040"/>
          </a:xfrm>
          <a:prstGeom prst="roundRect">
            <a:avLst>
              <a:gd name="adj" fmla="val 8000"/>
            </a:avLst>
          </a:prstGeom>
          <a:solidFill>
            <a:srgbClr val="143b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0" name="Rectangle 3"/>
          <p:cNvSpPr/>
          <p:nvPr/>
        </p:nvSpPr>
        <p:spPr>
          <a:xfrm>
            <a:off x="182880" y="2788920"/>
            <a:ext cx="145800" cy="1371240"/>
          </a:xfrm>
          <a:prstGeom prst="rect">
            <a:avLst/>
          </a:prstGeom>
          <a:solidFill>
            <a:srgbClr val="f2b1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1" name="TextBox 4"/>
          <p:cNvSpPr/>
          <p:nvPr/>
        </p:nvSpPr>
        <p:spPr>
          <a:xfrm>
            <a:off x="914400" y="2377440"/>
            <a:ext cx="8686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52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Terima Kasih</a:t>
            </a:r>
            <a:endParaRPr lang="en-US" sz="5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Box 5"/>
          <p:cNvSpPr/>
          <p:nvPr/>
        </p:nvSpPr>
        <p:spPr>
          <a:xfrm>
            <a:off x="914400" y="3383280"/>
            <a:ext cx="8686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2400" b="1" u="none" strike="noStrike">
                <a:solidFill>
                  <a:srgbClr val="4a9fe5"/>
                </a:solidFill>
                <a:effectLst/>
                <a:uFillTx/>
                <a:latin typeface="Segoe UI"/>
              </a:rPr>
              <a:t>Terima kasih atas perhatiannya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Box 6"/>
          <p:cNvSpPr/>
          <p:nvPr/>
        </p:nvSpPr>
        <p:spPr>
          <a:xfrm>
            <a:off x="914400" y="4114800"/>
            <a:ext cx="8686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lang="en-US" sz="1800" b="0" u="none" strike="noStrike">
                <a:solidFill>
                  <a:srgbClr val="b8d0e6"/>
                </a:solidFill>
                <a:effectLst/>
                <a:uFillTx/>
                <a:latin typeface="Segoe UI"/>
              </a:rPr>
              <a:t>Sesi Tanya Jawab (Q&amp;A)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Box 7"/>
          <p:cNvSpPr/>
          <p:nvPr/>
        </p:nvSpPr>
        <p:spPr>
          <a:xfrm>
            <a:off x="10241280" y="644652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457200">
              <a:lnSpc>
                <a:spcPct val="115000"/>
              </a:lnSpc>
            </a:pPr>
            <a:r>
              <a:rPr lang="en-US" sz="900" b="0" u="none" strike="noStrike">
                <a:solidFill>
                  <a:srgbClr val="9bb4cf"/>
                </a:solidFill>
                <a:effectLst/>
                <a:uFillTx/>
                <a:latin typeface="Segoe UI"/>
              </a:rPr>
              <a:t>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LibreOffice/25.8.6.2$Linux_X86_64 LibreOffice_project/580$Build-2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2026-09-03T00:47:46Z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